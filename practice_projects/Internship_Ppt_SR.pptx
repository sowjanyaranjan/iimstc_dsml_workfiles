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61" r:id="rId4"/>
    <p:sldId id="262" r:id="rId5"/>
    <p:sldId id="260" r:id="rId6"/>
    <p:sldId id="263" r:id="rId7"/>
    <p:sldId id="273" r:id="rId8"/>
    <p:sldId id="264" r:id="rId9"/>
    <p:sldId id="274" r:id="rId10"/>
    <p:sldId id="275" r:id="rId11"/>
    <p:sldId id="276" r:id="rId12"/>
    <p:sldId id="277" r:id="rId13"/>
    <p:sldId id="265" r:id="rId14"/>
    <p:sldId id="271" r:id="rId15"/>
    <p:sldId id="269" r:id="rId16"/>
    <p:sldId id="272" r:id="rId1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26"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27"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28"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29"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0"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31"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9A0EA98-5831-4853-B862-C702E6EB345C}" type="slidenum">
              <a:rPr lang="en-US" smtClean="0"/>
              <a:pPr/>
              <a:t>5</a:t>
            </a:fld>
            <a:endParaRPr lang="en-US"/>
          </a:p>
        </p:txBody>
      </p:sp>
    </p:spTree>
    <p:extLst>
      <p:ext uri="{BB962C8B-B14F-4D97-AF65-F5344CB8AC3E}">
        <p14:creationId xmlns:p14="http://schemas.microsoft.com/office/powerpoint/2010/main" val="3818550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1048618"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chemeClr val="tx2"/>
                </a:solidFill>
                <a:latin typeface="Times New Roman" panose="02020603050405020304"/>
                <a:cs typeface="Times New Roman" panose="02020603050405020304"/>
              </a:defRPr>
            </a:lvl1pPr>
          </a:lstStyle>
          <a:p>
            <a:endParaRPr/>
          </a:p>
        </p:txBody>
      </p:sp>
      <p:sp>
        <p:nvSpPr>
          <p:cNvPr id="1048619"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1600" b="0" i="0">
                <a:solidFill>
                  <a:schemeClr val="tx1"/>
                </a:solidFill>
                <a:latin typeface="Times New Roman" panose="02020603050405020304"/>
                <a:cs typeface="Times New Roman" panose="02020603050405020304"/>
              </a:defRPr>
            </a:lvl1pPr>
          </a:lstStyle>
          <a:p>
            <a:endParaRPr/>
          </a:p>
        </p:txBody>
      </p:sp>
      <p:sp>
        <p:nvSpPr>
          <p:cNvPr id="1048620"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21"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3/11/2026</a:t>
            </a:fld>
            <a:endParaRPr lang="en-US"/>
          </a:p>
        </p:txBody>
      </p:sp>
      <p:sp>
        <p:nvSpPr>
          <p:cNvPr id="1048622"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2" name="Holder 2"/>
          <p:cNvSpPr>
            <a:spLocks noGrp="1"/>
          </p:cNvSpPr>
          <p:nvPr>
            <p:ph type="title"/>
          </p:nvPr>
        </p:nvSpPr>
        <p:spPr/>
        <p:txBody>
          <a:bodyPr lIns="0" tIns="0" rIns="0" bIns="0"/>
          <a:lstStyle>
            <a:lvl1pPr>
              <a:defRPr sz="4400" b="1" i="0">
                <a:solidFill>
                  <a:schemeClr val="tx2"/>
                </a:solidFill>
                <a:latin typeface="Times New Roman" panose="02020603050405020304"/>
                <a:cs typeface="Times New Roman" panose="02020603050405020304"/>
              </a:defRPr>
            </a:lvl1pPr>
          </a:lstStyle>
          <a:p>
            <a:endParaRPr/>
          </a:p>
        </p:txBody>
      </p:sp>
      <p:sp>
        <p:nvSpPr>
          <p:cNvPr id="1048593" name="Holder 3"/>
          <p:cNvSpPr>
            <a:spLocks noGrp="1"/>
          </p:cNvSpPr>
          <p:nvPr>
            <p:ph type="body" idx="1"/>
          </p:nvPr>
        </p:nvSpPr>
        <p:spPr/>
        <p:txBody>
          <a:bodyPr lIns="0" tIns="0" rIns="0" bIns="0"/>
          <a:lstStyle>
            <a:lvl1pPr>
              <a:defRPr sz="1600" b="0" i="0">
                <a:solidFill>
                  <a:schemeClr val="tx1"/>
                </a:solidFill>
                <a:latin typeface="Times New Roman" panose="02020603050405020304"/>
                <a:cs typeface="Times New Roman" panose="02020603050405020304"/>
              </a:defRPr>
            </a:lvl1pPr>
          </a:lstStyle>
          <a:p>
            <a:endParaRPr/>
          </a:p>
        </p:txBody>
      </p:sp>
      <p:sp>
        <p:nvSpPr>
          <p:cNvPr id="104859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59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3/11/2026</a:t>
            </a:fld>
            <a:endParaRPr lang="en-US"/>
          </a:p>
        </p:txBody>
      </p:sp>
      <p:sp>
        <p:nvSpPr>
          <p:cNvPr id="104859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1048581" name="Holder 2"/>
          <p:cNvSpPr>
            <a:spLocks noGrp="1"/>
          </p:cNvSpPr>
          <p:nvPr>
            <p:ph type="title"/>
          </p:nvPr>
        </p:nvSpPr>
        <p:spPr/>
        <p:txBody>
          <a:bodyPr lIns="0" tIns="0" rIns="0" bIns="0"/>
          <a:lstStyle>
            <a:lvl1pPr>
              <a:defRPr sz="4400" b="1" i="0">
                <a:solidFill>
                  <a:schemeClr val="tx2"/>
                </a:solidFill>
                <a:latin typeface="Times New Roman" panose="02020603050405020304"/>
                <a:cs typeface="Times New Roman" panose="02020603050405020304"/>
              </a:defRPr>
            </a:lvl1pPr>
          </a:lstStyle>
          <a:p>
            <a:endParaRPr/>
          </a:p>
        </p:txBody>
      </p:sp>
      <p:sp>
        <p:nvSpPr>
          <p:cNvPr id="1048582" name="Holder 3"/>
          <p:cNvSpPr>
            <a:spLocks noGrp="1"/>
          </p:cNvSpPr>
          <p:nvPr>
            <p:ph sz="half" idx="2"/>
          </p:nvPr>
        </p:nvSpPr>
        <p:spPr>
          <a:xfrm>
            <a:off x="609600" y="1577340"/>
            <a:ext cx="5303520" cy="4526280"/>
          </a:xfrm>
          <a:prstGeom prst="rect">
            <a:avLst/>
          </a:prstGeom>
        </p:spPr>
        <p:txBody>
          <a:bodyPr wrap="square" lIns="0" tIns="0" rIns="0" bIns="0">
            <a:spAutoFit/>
          </a:bodyPr>
          <a:lstStyle/>
          <a:p>
            <a:endParaRPr/>
          </a:p>
        </p:txBody>
      </p:sp>
      <p:sp>
        <p:nvSpPr>
          <p:cNvPr id="1048583" name="Holder 4"/>
          <p:cNvSpPr>
            <a:spLocks noGrp="1"/>
          </p:cNvSpPr>
          <p:nvPr>
            <p:ph sz="half" idx="3"/>
          </p:nvPr>
        </p:nvSpPr>
        <p:spPr>
          <a:xfrm>
            <a:off x="6278880" y="1577340"/>
            <a:ext cx="5303520" cy="4526280"/>
          </a:xfrm>
          <a:prstGeom prst="rect">
            <a:avLst/>
          </a:prstGeom>
        </p:spPr>
        <p:txBody>
          <a:bodyPr wrap="square" lIns="0" tIns="0" rIns="0" bIns="0">
            <a:spAutoFit/>
          </a:bodyPr>
          <a:lstStyle/>
          <a:p>
            <a:endParaRPr/>
          </a:p>
        </p:txBody>
      </p:sp>
      <p:sp>
        <p:nvSpPr>
          <p:cNvPr id="1048584"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585"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3/11/2026</a:t>
            </a:fld>
            <a:endParaRPr lang="en-US"/>
          </a:p>
        </p:txBody>
      </p:sp>
      <p:sp>
        <p:nvSpPr>
          <p:cNvPr id="1048586"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1048607" name="Holder 2"/>
          <p:cNvSpPr>
            <a:spLocks noGrp="1"/>
          </p:cNvSpPr>
          <p:nvPr>
            <p:ph type="title"/>
          </p:nvPr>
        </p:nvSpPr>
        <p:spPr/>
        <p:txBody>
          <a:bodyPr lIns="0" tIns="0" rIns="0" bIns="0"/>
          <a:lstStyle>
            <a:lvl1pPr>
              <a:defRPr sz="4400" b="1" i="0">
                <a:solidFill>
                  <a:schemeClr val="tx2"/>
                </a:solidFill>
                <a:latin typeface="Times New Roman" panose="02020603050405020304"/>
                <a:cs typeface="Times New Roman" panose="02020603050405020304"/>
              </a:defRPr>
            </a:lvl1pPr>
          </a:lstStyle>
          <a:p>
            <a:endParaRPr/>
          </a:p>
        </p:txBody>
      </p:sp>
      <p:sp>
        <p:nvSpPr>
          <p:cNvPr id="1048608"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09"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3/11/2026</a:t>
            </a:fld>
            <a:endParaRPr lang="en-US"/>
          </a:p>
        </p:txBody>
      </p:sp>
      <p:sp>
        <p:nvSpPr>
          <p:cNvPr id="1048610"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1048623"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1048624"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3/11/2026</a:t>
            </a:fld>
            <a:endParaRPr lang="en-US"/>
          </a:p>
        </p:txBody>
      </p:sp>
      <p:sp>
        <p:nvSpPr>
          <p:cNvPr id="1048625"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76" name="Holder 2"/>
          <p:cNvSpPr>
            <a:spLocks noGrp="1"/>
          </p:cNvSpPr>
          <p:nvPr>
            <p:ph type="title"/>
          </p:nvPr>
        </p:nvSpPr>
        <p:spPr>
          <a:xfrm>
            <a:off x="1819046" y="5079"/>
            <a:ext cx="8553907" cy="1352550"/>
          </a:xfrm>
          <a:prstGeom prst="rect">
            <a:avLst/>
          </a:prstGeom>
        </p:spPr>
        <p:txBody>
          <a:bodyPr wrap="square" lIns="0" tIns="0" rIns="0" bIns="0">
            <a:spAutoFit/>
          </a:bodyPr>
          <a:lstStyle>
            <a:lvl1pPr>
              <a:defRPr sz="4400" b="1" i="0">
                <a:solidFill>
                  <a:schemeClr val="tx2"/>
                </a:solidFill>
                <a:latin typeface="Times New Roman" panose="02020603050405020304"/>
                <a:cs typeface="Times New Roman" panose="02020603050405020304"/>
              </a:defRPr>
            </a:lvl1pPr>
          </a:lstStyle>
          <a:p>
            <a:endParaRPr/>
          </a:p>
        </p:txBody>
      </p:sp>
      <p:sp>
        <p:nvSpPr>
          <p:cNvPr id="1048577" name="Holder 3"/>
          <p:cNvSpPr>
            <a:spLocks noGrp="1"/>
          </p:cNvSpPr>
          <p:nvPr>
            <p:ph type="body" idx="1"/>
          </p:nvPr>
        </p:nvSpPr>
        <p:spPr>
          <a:xfrm>
            <a:off x="682625" y="1562315"/>
            <a:ext cx="10811510" cy="4452620"/>
          </a:xfrm>
          <a:prstGeom prst="rect">
            <a:avLst/>
          </a:prstGeom>
        </p:spPr>
        <p:txBody>
          <a:bodyPr wrap="square" lIns="0" tIns="0" rIns="0" bIns="0">
            <a:spAutoFit/>
          </a:bodyPr>
          <a:lstStyle>
            <a:lvl1pPr>
              <a:defRPr sz="1600" b="0" i="0">
                <a:solidFill>
                  <a:schemeClr val="tx1"/>
                </a:solidFill>
                <a:latin typeface="Times New Roman" panose="02020603050405020304"/>
                <a:cs typeface="Times New Roman" panose="02020603050405020304"/>
              </a:defRPr>
            </a:lvl1pPr>
          </a:lstStyle>
          <a:p>
            <a:endParaRPr/>
          </a:p>
        </p:txBody>
      </p:sp>
      <p:sp>
        <p:nvSpPr>
          <p:cNvPr id="1048578"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1048579"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3/11/2026</a:t>
            </a:fld>
            <a:endParaRPr lang="en-US"/>
          </a:p>
        </p:txBody>
      </p:sp>
      <p:sp>
        <p:nvSpPr>
          <p:cNvPr id="1048580"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87" name="object 2"/>
          <p:cNvSpPr txBox="1">
            <a:spLocks noGrp="1"/>
          </p:cNvSpPr>
          <p:nvPr>
            <p:ph type="title"/>
          </p:nvPr>
        </p:nvSpPr>
        <p:spPr>
          <a:xfrm>
            <a:off x="1900518" y="3031363"/>
            <a:ext cx="8553907" cy="1028487"/>
          </a:xfrm>
          <a:prstGeom prst="rect">
            <a:avLst/>
          </a:prstGeom>
        </p:spPr>
        <p:txBody>
          <a:bodyPr vert="horz" wrap="square" lIns="0" tIns="12700" rIns="0" bIns="0" rtlCol="0">
            <a:spAutoFit/>
          </a:bodyPr>
          <a:lstStyle/>
          <a:p>
            <a:pPr marL="373380" marR="5080" indent="-361315" algn="ctr">
              <a:lnSpc>
                <a:spcPct val="100000"/>
              </a:lnSpc>
              <a:spcBef>
                <a:spcPts val="100"/>
              </a:spcBef>
            </a:pPr>
            <a:br>
              <a:rPr sz="2200" spc="-10" dirty="0">
                <a:solidFill>
                  <a:srgbClr val="000000"/>
                </a:solidFill>
              </a:rPr>
            </a:br>
            <a:endParaRPr lang="zh-CN" altLang="en-US" dirty="0"/>
          </a:p>
        </p:txBody>
      </p:sp>
      <p:sp>
        <p:nvSpPr>
          <p:cNvPr id="1048588" name="object 3"/>
          <p:cNvSpPr txBox="1"/>
          <p:nvPr/>
        </p:nvSpPr>
        <p:spPr>
          <a:xfrm>
            <a:off x="2241448" y="1481936"/>
            <a:ext cx="7814992" cy="2684709"/>
          </a:xfrm>
          <a:prstGeom prst="rect">
            <a:avLst/>
          </a:prstGeom>
        </p:spPr>
        <p:txBody>
          <a:bodyPr vert="horz" wrap="square" lIns="0" tIns="164465" rIns="0" bIns="0" rtlCol="0">
            <a:spAutoFit/>
          </a:bodyPr>
          <a:lstStyle/>
          <a:p>
            <a:pPr algn="ctr">
              <a:lnSpc>
                <a:spcPct val="100000"/>
              </a:lnSpc>
              <a:spcBef>
                <a:spcPts val="1295"/>
              </a:spcBef>
            </a:pPr>
            <a:r>
              <a:rPr lang="en-IN" sz="1800" dirty="0"/>
              <a:t> </a:t>
            </a:r>
            <a:r>
              <a:rPr lang="en-US" sz="2200" b="1" dirty="0">
                <a:latin typeface="Times New Roman" panose="02020603050405020304"/>
                <a:cs typeface="Times New Roman" panose="02020603050405020304"/>
              </a:rPr>
              <a:t>INTERNSHIP PRESENTATION (BAD883)</a:t>
            </a:r>
            <a:endParaRPr lang="en-US" sz="2200" b="1" spc="-10" dirty="0">
              <a:latin typeface="Times New Roman" panose="02020603050405020304"/>
              <a:cs typeface="Times New Roman" panose="02020603050405020304"/>
            </a:endParaRPr>
          </a:p>
          <a:p>
            <a:pPr marR="42545" algn="ctr">
              <a:spcBef>
                <a:spcPts val="1305"/>
              </a:spcBef>
            </a:pPr>
            <a:r>
              <a:rPr lang="en-US" sz="2400" b="1" dirty="0">
                <a:latin typeface="Times New Roman" panose="02020603050405020304"/>
                <a:cs typeface="Times New Roman" panose="02020603050405020304"/>
              </a:rPr>
              <a:t>ACADEMIC YEAR: 2025-26</a:t>
            </a:r>
          </a:p>
          <a:p>
            <a:pPr marR="42545" algn="ctr">
              <a:spcBef>
                <a:spcPts val="1305"/>
              </a:spcBef>
            </a:pPr>
            <a:endParaRPr lang="en-US" sz="2000" b="1" dirty="0">
              <a:latin typeface="Times New Roman" panose="02020603050405020304"/>
              <a:cs typeface="Times New Roman" panose="02020603050405020304"/>
            </a:endParaRPr>
          </a:p>
          <a:p>
            <a:pPr algn="ctr"/>
            <a:r>
              <a:rPr lang="en-US" sz="2400" b="1" dirty="0">
                <a:latin typeface="Times New Roman" panose="02020603050405020304" pitchFamily="18" charset="0"/>
                <a:cs typeface="Times New Roman" panose="02020603050405020304" pitchFamily="18" charset="0"/>
              </a:rPr>
              <a:t>Data Science &amp; Machine Learning Organized by AIIMS Technology Council (IIMSTC) and Engineers Council of India (ECI)</a:t>
            </a:r>
          </a:p>
        </p:txBody>
      </p:sp>
      <p:sp>
        <p:nvSpPr>
          <p:cNvPr id="1048589" name="object 4"/>
          <p:cNvSpPr txBox="1"/>
          <p:nvPr/>
        </p:nvSpPr>
        <p:spPr>
          <a:xfrm>
            <a:off x="8544272" y="4532897"/>
            <a:ext cx="3475355" cy="1709250"/>
          </a:xfrm>
          <a:prstGeom prst="rect">
            <a:avLst/>
          </a:prstGeom>
        </p:spPr>
        <p:txBody>
          <a:bodyPr vert="horz" wrap="square" lIns="0" tIns="48260" rIns="0" bIns="0" rtlCol="0">
            <a:spAutoFit/>
          </a:bodyPr>
          <a:lstStyle/>
          <a:p>
            <a:pPr marL="12700">
              <a:lnSpc>
                <a:spcPct val="100000"/>
              </a:lnSpc>
              <a:spcBef>
                <a:spcPts val="380"/>
              </a:spcBef>
            </a:pPr>
            <a:r>
              <a:rPr sz="2000" b="1" spc="-10" dirty="0">
                <a:latin typeface="Times New Roman" panose="02020603050405020304"/>
                <a:cs typeface="Times New Roman" panose="02020603050405020304"/>
              </a:rPr>
              <a:t>GUIDE:</a:t>
            </a:r>
            <a:endParaRPr sz="2000" dirty="0">
              <a:latin typeface="Times New Roman" panose="02020603050405020304"/>
              <a:cs typeface="Times New Roman" panose="02020603050405020304"/>
            </a:endParaRPr>
          </a:p>
          <a:p>
            <a:pPr marL="12700" marR="5080">
              <a:lnSpc>
                <a:spcPct val="112000"/>
              </a:lnSpc>
            </a:pPr>
            <a:r>
              <a:rPr lang="en-IN" sz="2000" spc="-10" dirty="0">
                <a:latin typeface="Times New Roman" panose="02020603050405020304"/>
                <a:cs typeface="Times New Roman" panose="02020603050405020304"/>
              </a:rPr>
              <a:t>K Padmaja,</a:t>
            </a:r>
          </a:p>
          <a:p>
            <a:pPr marL="12700" marR="5080">
              <a:lnSpc>
                <a:spcPct val="112000"/>
              </a:lnSpc>
            </a:pPr>
            <a:r>
              <a:rPr lang="en-IN" sz="2000" spc="-10" dirty="0">
                <a:latin typeface="Times New Roman" panose="02020603050405020304"/>
                <a:cs typeface="Times New Roman" panose="02020603050405020304"/>
              </a:rPr>
              <a:t>Asst. Professor, </a:t>
            </a:r>
            <a:r>
              <a:rPr sz="2000" spc="-10" dirty="0">
                <a:latin typeface="Times New Roman" panose="02020603050405020304"/>
                <a:cs typeface="Times New Roman" panose="02020603050405020304"/>
              </a:rPr>
              <a:t> </a:t>
            </a:r>
          </a:p>
          <a:p>
            <a:pPr marL="12700" marR="5080">
              <a:lnSpc>
                <a:spcPct val="112000"/>
              </a:lnSpc>
            </a:pPr>
            <a:r>
              <a:rPr sz="2000" dirty="0">
                <a:latin typeface="Times New Roman" panose="02020603050405020304"/>
                <a:cs typeface="Times New Roman" panose="02020603050405020304"/>
              </a:rPr>
              <a:t>Department</a:t>
            </a:r>
            <a:r>
              <a:rPr sz="2000" spc="-30" dirty="0">
                <a:latin typeface="Times New Roman" panose="02020603050405020304"/>
                <a:cs typeface="Times New Roman" panose="02020603050405020304"/>
              </a:rPr>
              <a:t> </a:t>
            </a:r>
            <a:r>
              <a:rPr sz="2000" dirty="0">
                <a:latin typeface="Times New Roman" panose="02020603050405020304"/>
                <a:cs typeface="Times New Roman" panose="02020603050405020304"/>
              </a:rPr>
              <a:t>of</a:t>
            </a:r>
            <a:r>
              <a:rPr sz="2000" spc="-20" dirty="0">
                <a:latin typeface="Times New Roman" panose="02020603050405020304"/>
                <a:cs typeface="Times New Roman" panose="02020603050405020304"/>
              </a:rPr>
              <a:t> </a:t>
            </a:r>
            <a:r>
              <a:rPr kumimoji="0" lang="en-IN" sz="2000" b="0" i="0" u="none" strike="noStrike" kern="0" cap="none" spc="0" normalizeH="0" baseline="0" noProof="1">
                <a:latin typeface="Times New Roman" panose="02020603050405020304"/>
                <a:ea typeface="Arial" panose="020B0604020202020204" pitchFamily="34" charset="0"/>
                <a:cs typeface="Times New Roman" panose="02020603050405020304"/>
                <a:sym typeface="+mn-ea"/>
              </a:rPr>
              <a:t>AIDS,</a:t>
            </a:r>
            <a:endParaRPr lang="zh-CN" altLang="en-US" dirty="0"/>
          </a:p>
          <a:p>
            <a:pPr marL="12700" marR="5080">
              <a:lnSpc>
                <a:spcPct val="112000"/>
              </a:lnSpc>
            </a:pPr>
            <a:r>
              <a:rPr lang="en-US" sz="2000" noProof="1">
                <a:latin typeface="Times New Roman" panose="02020603050405020304"/>
                <a:ea typeface="Arial" panose="020B0604020202020204" pitchFamily="34" charset="0"/>
                <a:cs typeface="Times New Roman" panose="02020603050405020304"/>
              </a:rPr>
              <a:t>EW</a:t>
            </a:r>
            <a:r>
              <a:rPr kumimoji="0" sz="2000" b="0" i="0" u="none" strike="noStrike" kern="0" cap="none" spc="0" normalizeH="0" baseline="0" noProof="1">
                <a:latin typeface="Times New Roman" panose="02020603050405020304"/>
                <a:ea typeface="Arial" panose="020B0604020202020204" pitchFamily="34" charset="0"/>
                <a:cs typeface="Times New Roman" panose="02020603050405020304"/>
              </a:rPr>
              <a:t>IT, </a:t>
            </a:r>
            <a:r>
              <a:rPr sz="2000" spc="-10" dirty="0">
                <a:latin typeface="Times New Roman" panose="02020603050405020304"/>
                <a:cs typeface="Times New Roman" panose="02020603050405020304"/>
              </a:rPr>
              <a:t>Bengaluru</a:t>
            </a:r>
            <a:endParaRPr sz="2000" dirty="0">
              <a:latin typeface="Times New Roman" panose="02020603050405020304"/>
              <a:cs typeface="Times New Roman" panose="02020603050405020304"/>
            </a:endParaRPr>
          </a:p>
        </p:txBody>
      </p:sp>
      <p:sp>
        <p:nvSpPr>
          <p:cNvPr id="1048590" name="object 5"/>
          <p:cNvSpPr txBox="1"/>
          <p:nvPr/>
        </p:nvSpPr>
        <p:spPr>
          <a:xfrm>
            <a:off x="767408" y="4527868"/>
            <a:ext cx="3188048" cy="1074653"/>
          </a:xfrm>
          <a:prstGeom prst="rect">
            <a:avLst/>
          </a:prstGeom>
        </p:spPr>
        <p:txBody>
          <a:bodyPr vert="horz" wrap="square" lIns="0" tIns="48260" rIns="0" bIns="0" rtlCol="0">
            <a:spAutoFit/>
          </a:bodyPr>
          <a:lstStyle/>
          <a:p>
            <a:pPr marL="12700">
              <a:lnSpc>
                <a:spcPct val="100000"/>
              </a:lnSpc>
              <a:spcBef>
                <a:spcPts val="380"/>
              </a:spcBef>
            </a:pPr>
            <a:r>
              <a:rPr lang="en-IN" sz="2000" b="1" spc="-20" dirty="0">
                <a:latin typeface="Times New Roman" panose="02020603050405020304"/>
                <a:cs typeface="Times New Roman" panose="02020603050405020304"/>
              </a:rPr>
              <a:t>PRESENTATION BY:</a:t>
            </a:r>
          </a:p>
          <a:p>
            <a:pPr marL="12700">
              <a:lnSpc>
                <a:spcPct val="100000"/>
              </a:lnSpc>
              <a:spcBef>
                <a:spcPts val="380"/>
              </a:spcBef>
            </a:pPr>
            <a:r>
              <a:rPr sz="2000" dirty="0">
                <a:latin typeface="Times New Roman" panose="02020603050405020304"/>
                <a:cs typeface="Times New Roman" panose="02020603050405020304"/>
              </a:rPr>
              <a:t>Name</a:t>
            </a:r>
            <a:r>
              <a:rPr lang="en-IN" sz="2000" dirty="0">
                <a:latin typeface="Times New Roman" panose="02020603050405020304"/>
                <a:cs typeface="Times New Roman" panose="02020603050405020304"/>
              </a:rPr>
              <a:t> :</a:t>
            </a:r>
            <a:r>
              <a:rPr sz="2000" spc="-20" dirty="0">
                <a:latin typeface="Times New Roman" panose="02020603050405020304"/>
                <a:cs typeface="Times New Roman" panose="02020603050405020304"/>
              </a:rPr>
              <a:t> </a:t>
            </a:r>
            <a:r>
              <a:rPr lang="en-IN" sz="2000" spc="-20" dirty="0">
                <a:latin typeface="Times New Roman" panose="02020603050405020304"/>
                <a:cs typeface="Times New Roman" panose="02020603050405020304"/>
              </a:rPr>
              <a:t>Sowjanya R</a:t>
            </a:r>
          </a:p>
          <a:p>
            <a:pPr marL="12700">
              <a:lnSpc>
                <a:spcPct val="100000"/>
              </a:lnSpc>
              <a:spcBef>
                <a:spcPts val="380"/>
              </a:spcBef>
            </a:pPr>
            <a:r>
              <a:rPr sz="2000" spc="-10" dirty="0">
                <a:latin typeface="Times New Roman" panose="02020603050405020304"/>
                <a:cs typeface="Times New Roman" panose="02020603050405020304"/>
              </a:rPr>
              <a:t>USN</a:t>
            </a:r>
            <a:r>
              <a:rPr lang="en-IN" sz="2000" spc="-10" dirty="0">
                <a:latin typeface="Times New Roman" panose="02020603050405020304"/>
                <a:cs typeface="Times New Roman" panose="02020603050405020304"/>
              </a:rPr>
              <a:t>:  1EW22AD039</a:t>
            </a:r>
            <a:endParaRPr sz="2000" dirty="0">
              <a:latin typeface="Times New Roman" panose="02020603050405020304"/>
              <a:cs typeface="Times New Roman" panose="02020603050405020304"/>
            </a:endParaRPr>
          </a:p>
        </p:txBody>
      </p:sp>
      <p:sp>
        <p:nvSpPr>
          <p:cNvPr id="1048591" name="Title 1"/>
          <p:cNvSpPr txBox="1"/>
          <p:nvPr/>
        </p:nvSpPr>
        <p:spPr>
          <a:xfrm>
            <a:off x="2506344" y="534516"/>
            <a:ext cx="7179310" cy="738664"/>
          </a:xfrm>
          <a:prstGeom prst="rect">
            <a:avLst/>
          </a:prstGeom>
        </p:spPr>
        <p:txBody>
          <a:bodyPr wrap="square" lIns="0" tIns="0" rIns="0" bIns="0">
            <a:spAutoFit/>
          </a:bodyPr>
          <a:lstStyle>
            <a:lvl1pPr>
              <a:defRPr sz="4400" b="1" i="0">
                <a:solidFill>
                  <a:schemeClr val="tx2"/>
                </a:solidFill>
                <a:latin typeface="Times New Roman" panose="02020603050405020304"/>
                <a:ea typeface="+mj-ea"/>
                <a:cs typeface="Times New Roman" panose="02020603050405020304"/>
              </a:defRPr>
            </a:lvl1pPr>
          </a:lstStyle>
          <a:p>
            <a:pPr algn="ctr"/>
            <a:r>
              <a:rPr lang="en-US" sz="2400" dirty="0"/>
              <a:t>EAST WEST INSTITUTE OF TECHNOLOGY</a:t>
            </a:r>
            <a:br>
              <a:rPr lang="en-US" sz="2400" dirty="0"/>
            </a:br>
            <a:r>
              <a:rPr lang="en-US" sz="2400" dirty="0"/>
              <a:t>Department of Artificial Intelligence &amp; Data Science</a:t>
            </a:r>
          </a:p>
        </p:txBody>
      </p:sp>
      <p:pic>
        <p:nvPicPr>
          <p:cNvPr id="2097152" name="Picture 0" descr="eastwest-logo.png"/>
          <p:cNvPicPr>
            <a:picLocks noChangeAspect="1"/>
          </p:cNvPicPr>
          <p:nvPr/>
        </p:nvPicPr>
        <p:blipFill>
          <a:blip r:embed="rId2" cstate="print">
            <a:lum/>
          </a:blip>
          <a:stretch>
            <a:fillRect/>
          </a:stretch>
        </p:blipFill>
        <p:spPr>
          <a:xfrm>
            <a:off x="947826" y="495850"/>
            <a:ext cx="957174" cy="1016906"/>
          </a:xfrm>
          <a:prstGeom prst="rect">
            <a:avLst/>
          </a:prstGeom>
        </p:spPr>
      </p:pic>
      <p:pic>
        <p:nvPicPr>
          <p:cNvPr id="2097153" name="Picture 9"/>
          <p:cNvPicPr>
            <a:picLocks noChangeAspect="1"/>
          </p:cNvPicPr>
          <p:nvPr/>
        </p:nvPicPr>
        <p:blipFill>
          <a:blip r:embed="rId3" cstate="print"/>
          <a:stretch>
            <a:fillRect/>
          </a:stretch>
        </p:blipFill>
        <p:spPr>
          <a:xfrm>
            <a:off x="10690339" y="495850"/>
            <a:ext cx="1098228" cy="11080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8597" name="object 2"/>
          <p:cNvSpPr txBox="1">
            <a:spLocks noGrp="1"/>
          </p:cNvSpPr>
          <p:nvPr>
            <p:ph type="title"/>
          </p:nvPr>
        </p:nvSpPr>
        <p:spPr>
          <a:xfrm>
            <a:off x="4810116" y="197992"/>
            <a:ext cx="3500462" cy="628377"/>
          </a:xfrm>
          <a:prstGeom prst="rect">
            <a:avLst/>
          </a:prstGeom>
        </p:spPr>
        <p:txBody>
          <a:bodyPr vert="horz" wrap="square" lIns="0" tIns="12700" rIns="0" bIns="0" rtlCol="0">
            <a:spAutoFit/>
          </a:bodyPr>
          <a:lstStyle/>
          <a:p>
            <a:pPr marL="12700">
              <a:lnSpc>
                <a:spcPct val="100000"/>
              </a:lnSpc>
              <a:spcBef>
                <a:spcPts val="100"/>
              </a:spcBef>
            </a:pPr>
            <a:r>
              <a:rPr lang="en-US" sz="4000" spc="-10" dirty="0"/>
              <a:t>CONTENTS</a:t>
            </a:r>
            <a:endParaRPr lang="en-US" sz="4000" dirty="0"/>
          </a:p>
        </p:txBody>
      </p:sp>
      <p:sp>
        <p:nvSpPr>
          <p:cNvPr id="1048598" name="object 3"/>
          <p:cNvSpPr txBox="1"/>
          <p:nvPr/>
        </p:nvSpPr>
        <p:spPr>
          <a:xfrm>
            <a:off x="335360" y="1268760"/>
            <a:ext cx="4861428" cy="3206006"/>
          </a:xfrm>
          <a:prstGeom prst="rect">
            <a:avLst/>
          </a:prstGeom>
        </p:spPr>
        <p:txBody>
          <a:bodyPr vert="horz" wrap="square" lIns="0" tIns="12700" rIns="0" bIns="0" rtlCol="0">
            <a:spAutoFit/>
          </a:bodyPr>
          <a:lstStyle/>
          <a:p>
            <a:pPr marL="530225" indent="-401955">
              <a:spcBef>
                <a:spcPts val="100"/>
              </a:spcBef>
              <a:buFont typeface="Calibri" panose="020F0502020204030204"/>
              <a:buAutoNum type="arabicPeriod"/>
              <a:tabLst>
                <a:tab pos="530225" algn="l"/>
              </a:tabLst>
            </a:pPr>
            <a:r>
              <a:rPr lang="en-IN" sz="2000" spc="-10" dirty="0">
                <a:latin typeface="Times New Roman" panose="02020603050405020304"/>
                <a:cs typeface="Times New Roman" panose="02020603050405020304"/>
              </a:rPr>
              <a:t>Abstract</a:t>
            </a:r>
          </a:p>
          <a:p>
            <a:pPr marL="530225" indent="-401955">
              <a:spcBef>
                <a:spcPts val="100"/>
              </a:spcBef>
              <a:buFont typeface="Calibri" panose="020F0502020204030204"/>
              <a:buAutoNum type="arabicPeriod"/>
              <a:tabLst>
                <a:tab pos="530225" algn="l"/>
              </a:tabLst>
            </a:pPr>
            <a:r>
              <a:rPr sz="2000" spc="-10" dirty="0">
                <a:latin typeface="Times New Roman" panose="02020603050405020304"/>
                <a:cs typeface="Times New Roman" panose="02020603050405020304"/>
              </a:rPr>
              <a:t>Introduction</a:t>
            </a:r>
            <a:endParaRPr lang="en-IN" sz="2000" spc="-10" dirty="0">
              <a:latin typeface="Times New Roman" panose="02020603050405020304"/>
              <a:cs typeface="Times New Roman" panose="02020603050405020304"/>
            </a:endParaRPr>
          </a:p>
          <a:p>
            <a:pPr marL="530225" indent="-401955">
              <a:spcBef>
                <a:spcPts val="100"/>
              </a:spcBef>
              <a:buFont typeface="Calibri" panose="020F0502020204030204"/>
              <a:buAutoNum type="arabicPeriod"/>
              <a:tabLst>
                <a:tab pos="530225" algn="l"/>
              </a:tabLst>
            </a:pPr>
            <a:r>
              <a:rPr lang="en-IN" sz="2000" spc="-10" dirty="0">
                <a:latin typeface="Times New Roman" panose="02020603050405020304"/>
                <a:cs typeface="Times New Roman" panose="02020603050405020304"/>
              </a:rPr>
              <a:t>Company Overview</a:t>
            </a:r>
          </a:p>
          <a:p>
            <a:pPr marL="530225" indent="-401955">
              <a:spcBef>
                <a:spcPts val="100"/>
              </a:spcBef>
              <a:buFont typeface="Calibri" panose="020F0502020204030204"/>
              <a:buAutoNum type="arabicPeriod"/>
              <a:tabLst>
                <a:tab pos="530225" algn="l"/>
              </a:tabLst>
            </a:pPr>
            <a:r>
              <a:rPr lang="en-IN" sz="2000" spc="-10" dirty="0">
                <a:latin typeface="Times New Roman" panose="02020603050405020304"/>
                <a:cs typeface="Times New Roman" panose="02020603050405020304"/>
              </a:rPr>
              <a:t>Internship Objectives</a:t>
            </a:r>
          </a:p>
          <a:p>
            <a:pPr marL="530225" indent="-401955">
              <a:spcBef>
                <a:spcPts val="100"/>
              </a:spcBef>
              <a:buFont typeface="Calibri" panose="020F0502020204030204"/>
              <a:buAutoNum type="arabicPeriod"/>
              <a:tabLst>
                <a:tab pos="530225" algn="l"/>
              </a:tabLst>
            </a:pPr>
            <a:r>
              <a:rPr lang="en-IN" sz="2000" spc="-10" dirty="0">
                <a:latin typeface="Times New Roman" panose="02020603050405020304"/>
                <a:cs typeface="Times New Roman" panose="02020603050405020304"/>
              </a:rPr>
              <a:t>Internship plan /schedule –Week 1-5</a:t>
            </a:r>
          </a:p>
          <a:p>
            <a:pPr marL="530225" indent="-401955">
              <a:spcBef>
                <a:spcPts val="100"/>
              </a:spcBef>
              <a:buFont typeface="Calibri" panose="020F0502020204030204"/>
              <a:buAutoNum type="arabicPeriod"/>
              <a:tabLst>
                <a:tab pos="530225" algn="l"/>
              </a:tabLst>
            </a:pPr>
            <a:r>
              <a:rPr lang="en-IN" sz="2000" spc="-10" dirty="0">
                <a:latin typeface="Times New Roman" panose="02020603050405020304"/>
                <a:cs typeface="Times New Roman" panose="02020603050405020304"/>
              </a:rPr>
              <a:t>Technologies/Tools used</a:t>
            </a:r>
          </a:p>
          <a:p>
            <a:pPr marL="530225" indent="-401955">
              <a:spcBef>
                <a:spcPts val="100"/>
              </a:spcBef>
              <a:buFont typeface="Calibri" panose="020F0502020204030204"/>
              <a:buAutoNum type="arabicPeriod"/>
              <a:tabLst>
                <a:tab pos="530225" algn="l"/>
              </a:tabLst>
            </a:pPr>
            <a:r>
              <a:rPr lang="en-IN" sz="2000" spc="-10" dirty="0">
                <a:latin typeface="Times New Roman" panose="02020603050405020304"/>
                <a:cs typeface="Times New Roman" panose="02020603050405020304"/>
              </a:rPr>
              <a:t>Skills gained</a:t>
            </a:r>
          </a:p>
          <a:p>
            <a:pPr marL="530225" indent="-401955">
              <a:spcBef>
                <a:spcPts val="100"/>
              </a:spcBef>
              <a:buFont typeface="Calibri" panose="020F0502020204030204"/>
              <a:buAutoNum type="arabicPeriod"/>
              <a:tabLst>
                <a:tab pos="530225" algn="l"/>
              </a:tabLst>
            </a:pPr>
            <a:r>
              <a:rPr lang="en-IN" sz="2000" spc="-10" dirty="0">
                <a:latin typeface="Times New Roman" panose="02020603050405020304"/>
                <a:cs typeface="Times New Roman" panose="02020603050405020304"/>
              </a:rPr>
              <a:t>Conclusion</a:t>
            </a:r>
          </a:p>
          <a:p>
            <a:pPr marL="530225" indent="-401955">
              <a:spcBef>
                <a:spcPts val="100"/>
              </a:spcBef>
              <a:buFont typeface="Calibri" panose="020F0502020204030204"/>
              <a:buAutoNum type="arabicPeriod"/>
              <a:tabLst>
                <a:tab pos="530225" algn="l"/>
              </a:tabLst>
            </a:pPr>
            <a:r>
              <a:rPr lang="en-IN" sz="2000" spc="-10" dirty="0">
                <a:latin typeface="Times New Roman" panose="02020603050405020304"/>
                <a:cs typeface="Times New Roman" panose="02020603050405020304"/>
              </a:rPr>
              <a:t>References</a:t>
            </a:r>
          </a:p>
          <a:p>
            <a:pPr marL="530225" indent="-401955">
              <a:spcBef>
                <a:spcPts val="100"/>
              </a:spcBef>
              <a:buFont typeface="Calibri" panose="020F0502020204030204"/>
              <a:buAutoNum type="arabicPeriod"/>
              <a:tabLst>
                <a:tab pos="530225" algn="l"/>
              </a:tabLst>
            </a:pPr>
            <a:endParaRPr lang="en-IN" sz="2000" spc="-10" dirty="0">
              <a:latin typeface="Times New Roman" panose="02020603050405020304"/>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5E050-1121-5131-3969-0A34C33A5C64}"/>
              </a:ext>
            </a:extLst>
          </p:cNvPr>
          <p:cNvSpPr>
            <a:spLocks noGrp="1"/>
          </p:cNvSpPr>
          <p:nvPr>
            <p:ph type="title"/>
          </p:nvPr>
        </p:nvSpPr>
        <p:spPr>
          <a:xfrm>
            <a:off x="1819046" y="188640"/>
            <a:ext cx="8553907" cy="677108"/>
          </a:xfrm>
        </p:spPr>
        <p:txBody>
          <a:bodyPr/>
          <a:lstStyle/>
          <a:p>
            <a:pPr algn="ctr"/>
            <a:r>
              <a:rPr lang="en-IN" dirty="0"/>
              <a:t>ABSTRACT</a:t>
            </a:r>
          </a:p>
        </p:txBody>
      </p:sp>
      <p:sp>
        <p:nvSpPr>
          <p:cNvPr id="3" name="Text Placeholder 2">
            <a:extLst>
              <a:ext uri="{FF2B5EF4-FFF2-40B4-BE49-F238E27FC236}">
                <a16:creationId xmlns:a16="http://schemas.microsoft.com/office/drawing/2014/main" id="{9D8CE68E-58BE-97DA-534F-25F5537F0CE8}"/>
              </a:ext>
            </a:extLst>
          </p:cNvPr>
          <p:cNvSpPr>
            <a:spLocks noGrp="1"/>
          </p:cNvSpPr>
          <p:nvPr>
            <p:ph type="body" idx="1"/>
          </p:nvPr>
        </p:nvSpPr>
        <p:spPr>
          <a:xfrm>
            <a:off x="682625" y="1562315"/>
            <a:ext cx="10811510" cy="1661993"/>
          </a:xfrm>
        </p:spPr>
        <p:txBody>
          <a:bodyPr/>
          <a:lstStyle/>
          <a:p>
            <a:pPr algn="just"/>
            <a:r>
              <a:rPr lang="en-IN" sz="1800" dirty="0"/>
              <a:t>The internship focuses on fields of Data Science and Machine Learning as the main domain of learning. Organised by the IIMSTC-International Institute of Medical Science and Technology Council, this is a well organised internship program that concentrates on providing industry level experience and training to the students. The internship program is designed in a way to provide exposure to students to work with, learn and gain hands on experience with real world problems and actual working of the corporate. On the whole, this program provides with a strict and actual environment for students to carry out the internship to provide exposure to the professional world.</a:t>
            </a:r>
          </a:p>
        </p:txBody>
      </p:sp>
    </p:spTree>
    <p:extLst>
      <p:ext uri="{BB962C8B-B14F-4D97-AF65-F5344CB8AC3E}">
        <p14:creationId xmlns:p14="http://schemas.microsoft.com/office/powerpoint/2010/main" val="3396026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AE978-F498-5BD7-4C0A-577600A51795}"/>
              </a:ext>
            </a:extLst>
          </p:cNvPr>
          <p:cNvSpPr>
            <a:spLocks noGrp="1"/>
          </p:cNvSpPr>
          <p:nvPr>
            <p:ph type="title"/>
          </p:nvPr>
        </p:nvSpPr>
        <p:spPr>
          <a:xfrm>
            <a:off x="1819046" y="260648"/>
            <a:ext cx="8553907" cy="677108"/>
          </a:xfrm>
        </p:spPr>
        <p:txBody>
          <a:bodyPr/>
          <a:lstStyle/>
          <a:p>
            <a:pPr algn="ctr"/>
            <a:r>
              <a:rPr lang="en-IN" dirty="0"/>
              <a:t>INTRODUCTION</a:t>
            </a:r>
          </a:p>
        </p:txBody>
      </p:sp>
      <p:sp>
        <p:nvSpPr>
          <p:cNvPr id="3" name="Text Placeholder 2">
            <a:extLst>
              <a:ext uri="{FF2B5EF4-FFF2-40B4-BE49-F238E27FC236}">
                <a16:creationId xmlns:a16="http://schemas.microsoft.com/office/drawing/2014/main" id="{51D87A50-4B74-E20F-C432-807E7DA3F1E9}"/>
              </a:ext>
            </a:extLst>
          </p:cNvPr>
          <p:cNvSpPr>
            <a:spLocks noGrp="1"/>
          </p:cNvSpPr>
          <p:nvPr>
            <p:ph type="body" idx="1"/>
          </p:nvPr>
        </p:nvSpPr>
        <p:spPr>
          <a:xfrm>
            <a:off x="682625" y="1562315"/>
            <a:ext cx="10811510" cy="4387740"/>
          </a:xfrm>
        </p:spPr>
        <p:txBody>
          <a:bodyPr/>
          <a:lstStyle/>
          <a:p>
            <a:pPr>
              <a:lnSpc>
                <a:spcPct val="150000"/>
              </a:lnSpc>
            </a:pPr>
            <a:r>
              <a:rPr lang="en-US" dirty="0"/>
              <a:t>The DS &amp; ML internship is offered through AIIMS Technology Council providing engineering students with hands-on exposure to real-world data analytics and machine learning projects used in production environments.</a:t>
            </a:r>
          </a:p>
          <a:p>
            <a:pPr>
              <a:lnSpc>
                <a:spcPct val="150000"/>
              </a:lnSpc>
            </a:pPr>
            <a:r>
              <a:rPr lang="en-US" dirty="0"/>
              <a:t>Interns will collaborate with data engineers, analysts, and ML developers to build models, design pipelines, and implement insights for active business and institutional projects. </a:t>
            </a:r>
            <a:r>
              <a:rPr lang="en-IN" dirty="0"/>
              <a:t>All students are divided into teams called Cohorts which includes 15 students in each cohort from various different colleges and cities across Karnataka. </a:t>
            </a:r>
          </a:p>
          <a:p>
            <a:pPr>
              <a:lnSpc>
                <a:spcPct val="150000"/>
              </a:lnSpc>
            </a:pPr>
            <a:endParaRPr lang="en-IN" dirty="0"/>
          </a:p>
          <a:p>
            <a:pPr>
              <a:lnSpc>
                <a:spcPct val="150000"/>
              </a:lnSpc>
            </a:pPr>
            <a:r>
              <a:rPr lang="en-IN" dirty="0"/>
              <a:t>During the beginning, introduction sessions, installations and training sessions were carried out to begin with a smooth start to the program. The teams are provided with mini projects, projects and assessments which needs to be submitted by following protocols. The interns are supposed to carry out individual learning for a minimum of 6 hours a day, followed by 1 hour live session. The live meeting session is presided by mentors, coordinators(technical and non-technical), quality management team etc which needs strict compliance to rules.</a:t>
            </a:r>
          </a:p>
          <a:p>
            <a:pPr>
              <a:lnSpc>
                <a:spcPct val="150000"/>
              </a:lnSpc>
            </a:pPr>
            <a:endParaRPr lang="en-IN" dirty="0"/>
          </a:p>
        </p:txBody>
      </p:sp>
    </p:spTree>
    <p:extLst>
      <p:ext uri="{BB962C8B-B14F-4D97-AF65-F5344CB8AC3E}">
        <p14:creationId xmlns:p14="http://schemas.microsoft.com/office/powerpoint/2010/main" val="1709676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193AB-1080-5359-9004-DEFF6BBAC621}"/>
              </a:ext>
            </a:extLst>
          </p:cNvPr>
          <p:cNvSpPr>
            <a:spLocks noGrp="1"/>
          </p:cNvSpPr>
          <p:nvPr>
            <p:ph type="title"/>
          </p:nvPr>
        </p:nvSpPr>
        <p:spPr>
          <a:xfrm>
            <a:off x="1811426" y="260648"/>
            <a:ext cx="8553907" cy="677108"/>
          </a:xfrm>
        </p:spPr>
        <p:txBody>
          <a:bodyPr/>
          <a:lstStyle/>
          <a:p>
            <a:pPr algn="ctr"/>
            <a:r>
              <a:rPr lang="en-IN" dirty="0"/>
              <a:t>COMPANY OVERVIEW</a:t>
            </a:r>
          </a:p>
        </p:txBody>
      </p:sp>
      <p:sp>
        <p:nvSpPr>
          <p:cNvPr id="3" name="Text Placeholder 2">
            <a:extLst>
              <a:ext uri="{FF2B5EF4-FFF2-40B4-BE49-F238E27FC236}">
                <a16:creationId xmlns:a16="http://schemas.microsoft.com/office/drawing/2014/main" id="{EEA0E713-D572-4288-9604-78C67B804AE4}"/>
              </a:ext>
            </a:extLst>
          </p:cNvPr>
          <p:cNvSpPr>
            <a:spLocks noGrp="1"/>
          </p:cNvSpPr>
          <p:nvPr>
            <p:ph type="body" idx="1"/>
          </p:nvPr>
        </p:nvSpPr>
        <p:spPr>
          <a:xfrm>
            <a:off x="682624" y="1196752"/>
            <a:ext cx="10811510" cy="5262979"/>
          </a:xfrm>
        </p:spPr>
        <p:txBody>
          <a:bodyPr/>
          <a:lstStyle/>
          <a:p>
            <a:r>
              <a:rPr lang="en-US" sz="1800" b="1" dirty="0"/>
              <a:t>Name of the Company:  </a:t>
            </a:r>
            <a:r>
              <a:rPr lang="en-US" sz="1800" dirty="0"/>
              <a:t>INTERNATIONAL INSTITUTE OF MEDICAL SCIENCE &amp; TECHNOLOGY COUNCIL</a:t>
            </a:r>
          </a:p>
          <a:p>
            <a:r>
              <a:rPr lang="en-US" sz="1800" b="1" dirty="0"/>
              <a:t>Domain of Internship: </a:t>
            </a:r>
            <a:r>
              <a:rPr lang="en-US" sz="1800" dirty="0"/>
              <a:t>Data Science &amp; Machine Learning Organized by AIIMS Technology Council (IIMSTC) and Engineers Council of India (ECI)</a:t>
            </a:r>
          </a:p>
          <a:p>
            <a:r>
              <a:rPr lang="en-US" sz="1800" b="1" dirty="0"/>
              <a:t>Mode: </a:t>
            </a:r>
            <a:r>
              <a:rPr lang="en-US" sz="1800" dirty="0"/>
              <a:t>Hybrid</a:t>
            </a:r>
          </a:p>
          <a:p>
            <a:endParaRPr lang="en-US" dirty="0"/>
          </a:p>
          <a:p>
            <a:r>
              <a:rPr lang="en-US" sz="1800" b="1" dirty="0"/>
              <a:t>About the company: </a:t>
            </a:r>
            <a:r>
              <a:rPr lang="en-US" sz="1800" dirty="0"/>
              <a:t>IIMSTC is registered with Ministry of Corporate Affairs and Ministry of Finance, Government of India to undertake CSR activities under Certificate of Incorporation issued by the Jurisdictional Registrar of Companies, pursuant to the Companies Act, 2013. The Council is also registered with the Employees’ State Insurance Corporation, Income Tax Department, and the Ministry of Home Affairs, Govt of India u/s17(1) Foreign Contribution Regulation Act. It is also registered with Ministry of Small Medium Enterprises, NGO Darpan, NITI Aayog, and Ministry of External Affairs, Government of India. IIMSTC is a unique initiative providing a validated training platform for talented medical and technical students under “Diamond Beneath Your Feet. It is also registered under the VTU.</a:t>
            </a:r>
          </a:p>
          <a:p>
            <a:endParaRPr lang="en-US" sz="1800" dirty="0"/>
          </a:p>
          <a:p>
            <a:r>
              <a:rPr lang="en-US" sz="2000" b="1" dirty="0"/>
              <a:t>Details of external guide:</a:t>
            </a:r>
          </a:p>
          <a:p>
            <a:pPr lvl="1"/>
            <a:r>
              <a:rPr lang="en-US" sz="2000" dirty="0"/>
              <a:t>Name: </a:t>
            </a:r>
            <a:r>
              <a:rPr lang="en-IN" sz="2000" dirty="0"/>
              <a:t>Dr. Padma Giri</a:t>
            </a:r>
            <a:endParaRPr lang="en-US" sz="2000" dirty="0"/>
          </a:p>
          <a:p>
            <a:pPr lvl="1"/>
            <a:r>
              <a:rPr lang="en-US" sz="2000" dirty="0"/>
              <a:t>Email id: </a:t>
            </a:r>
            <a:r>
              <a:rPr lang="en-IN" sz="2000" dirty="0">
                <a:solidFill>
                  <a:schemeClr val="tx1"/>
                </a:solidFill>
                <a:uFill>
                  <a:solidFill>
                    <a:srgbClr val="0000FF"/>
                  </a:solidFill>
                </a:uFill>
              </a:rPr>
              <a:t>directoracademic@iimstc.com, examination@iimstc.com</a:t>
            </a:r>
            <a:endParaRPr lang="en-US" sz="2000" dirty="0"/>
          </a:p>
          <a:p>
            <a:endParaRPr lang="en-IN" dirty="0"/>
          </a:p>
        </p:txBody>
      </p:sp>
    </p:spTree>
    <p:extLst>
      <p:ext uri="{BB962C8B-B14F-4D97-AF65-F5344CB8AC3E}">
        <p14:creationId xmlns:p14="http://schemas.microsoft.com/office/powerpoint/2010/main" val="1732628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54362-D001-31D3-1A8B-80F6816858D8}"/>
              </a:ext>
            </a:extLst>
          </p:cNvPr>
          <p:cNvSpPr>
            <a:spLocks noGrp="1"/>
          </p:cNvSpPr>
          <p:nvPr>
            <p:ph type="title"/>
          </p:nvPr>
        </p:nvSpPr>
        <p:spPr>
          <a:xfrm>
            <a:off x="1819046" y="260648"/>
            <a:ext cx="8553907" cy="1354217"/>
          </a:xfrm>
        </p:spPr>
        <p:txBody>
          <a:bodyPr/>
          <a:lstStyle/>
          <a:p>
            <a:pPr algn="ctr"/>
            <a:r>
              <a:rPr lang="en-IN" spc="-10" dirty="0"/>
              <a:t>INTERNSHIP OBJECTIVES</a:t>
            </a:r>
            <a:br>
              <a:rPr lang="en-IN" spc="-10" dirty="0"/>
            </a:br>
            <a:endParaRPr lang="en-IN" dirty="0"/>
          </a:p>
        </p:txBody>
      </p:sp>
      <p:sp>
        <p:nvSpPr>
          <p:cNvPr id="3" name="Text Placeholder 2">
            <a:extLst>
              <a:ext uri="{FF2B5EF4-FFF2-40B4-BE49-F238E27FC236}">
                <a16:creationId xmlns:a16="http://schemas.microsoft.com/office/drawing/2014/main" id="{582CC84E-7D60-D836-B10A-921D81BE0420}"/>
              </a:ext>
            </a:extLst>
          </p:cNvPr>
          <p:cNvSpPr>
            <a:spLocks noGrp="1"/>
          </p:cNvSpPr>
          <p:nvPr>
            <p:ph type="body" idx="1"/>
          </p:nvPr>
        </p:nvSpPr>
        <p:spPr>
          <a:xfrm>
            <a:off x="682625" y="1562314"/>
            <a:ext cx="10811510" cy="4370427"/>
          </a:xfrm>
        </p:spPr>
        <p:txBody>
          <a:bodyPr/>
          <a:lstStyle/>
          <a:p>
            <a:pPr>
              <a:buNone/>
            </a:pPr>
            <a:r>
              <a:rPr lang="en-US" sz="2000" b="1" dirty="0"/>
              <a:t>Goal: </a:t>
            </a:r>
            <a:br>
              <a:rPr lang="en-US" dirty="0"/>
            </a:br>
            <a:r>
              <a:rPr lang="en-US" dirty="0"/>
              <a:t>This internship is offered through the </a:t>
            </a:r>
            <a:r>
              <a:rPr lang="en-US" b="1" dirty="0"/>
              <a:t>AIIMS Technology Council</a:t>
            </a:r>
            <a:r>
              <a:rPr lang="en-US" dirty="0"/>
              <a:t> and provides engineering students with hands-on exposure to real-world data analytics and machine learning projects used in production environments. Interns collaborate with data engineers, analysts, and machine learning developers to build models, design data pipelines, and implement insights for active business and institutional projects.</a:t>
            </a:r>
          </a:p>
          <a:p>
            <a:pPr>
              <a:buNone/>
            </a:pPr>
            <a:endParaRPr lang="en-US" dirty="0"/>
          </a:p>
          <a:p>
            <a:pPr>
              <a:buNone/>
            </a:pPr>
            <a:r>
              <a:rPr lang="en-US" sz="2000" b="1" dirty="0"/>
              <a:t>Industry Projects:</a:t>
            </a:r>
            <a:endParaRPr lang="en-US" sz="2000" dirty="0"/>
          </a:p>
          <a:p>
            <a:pPr marL="285750" indent="-285750">
              <a:buFont typeface="Arial" panose="020B0604020202020204" pitchFamily="34" charset="0"/>
              <a:buChar char="•"/>
            </a:pPr>
            <a:r>
              <a:rPr lang="en-US" dirty="0"/>
              <a:t>Predictive analytics for business operations and logistics</a:t>
            </a:r>
          </a:p>
          <a:p>
            <a:pPr marL="285750" indent="-285750">
              <a:buFont typeface="Arial" panose="020B0604020202020204" pitchFamily="34" charset="0"/>
              <a:buChar char="•"/>
            </a:pPr>
            <a:r>
              <a:rPr lang="en-US" dirty="0"/>
              <a:t>Student performance analysis and recommendation dashboards for education platforms</a:t>
            </a:r>
          </a:p>
          <a:p>
            <a:pPr marL="285750" indent="-285750">
              <a:buFont typeface="Arial" panose="020B0604020202020204" pitchFamily="34" charset="0"/>
              <a:buChar char="•"/>
            </a:pPr>
            <a:r>
              <a:rPr lang="en-US" dirty="0"/>
              <a:t>Image and document classification using neural networks</a:t>
            </a:r>
          </a:p>
          <a:p>
            <a:pPr marL="285750" indent="-285750">
              <a:buFont typeface="Arial" panose="020B0604020202020204" pitchFamily="34" charset="0"/>
              <a:buChar char="•"/>
            </a:pPr>
            <a:r>
              <a:rPr lang="en-US" dirty="0"/>
              <a:t>Sentiment and review analysis systems for e-commerce data</a:t>
            </a:r>
          </a:p>
          <a:p>
            <a:pPr marL="285750" indent="-285750">
              <a:buFont typeface="Arial" panose="020B0604020202020204" pitchFamily="34" charset="0"/>
              <a:buChar char="•"/>
            </a:pPr>
            <a:r>
              <a:rPr lang="en-US" dirty="0"/>
              <a:t>Data visualization dashboards to support decision-making</a:t>
            </a:r>
          </a:p>
          <a:p>
            <a:pPr>
              <a:buFont typeface="Arial" panose="020B0604020202020204" pitchFamily="34" charset="0"/>
              <a:buChar char="•"/>
            </a:pPr>
            <a:endParaRPr lang="en-US" dirty="0"/>
          </a:p>
          <a:p>
            <a:r>
              <a:rPr lang="en-US" sz="2000" b="1" dirty="0"/>
              <a:t>Technologies Used:</a:t>
            </a:r>
            <a:br>
              <a:rPr lang="en-US" dirty="0"/>
            </a:br>
            <a:r>
              <a:rPr lang="en-US" dirty="0"/>
              <a:t>Python, NumPy, Pandas, scikit-learn, TensorFlow, Power BI, and AWS</a:t>
            </a:r>
          </a:p>
          <a:p>
            <a:pPr>
              <a:buFont typeface="Arial" panose="020B0604020202020204" pitchFamily="34" charset="0"/>
              <a:buChar char="•"/>
            </a:pPr>
            <a:endParaRPr lang="en-US"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3844490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EF46A22-F9E6-A959-A849-208718CF8DDA}"/>
              </a:ext>
            </a:extLst>
          </p:cNvPr>
          <p:cNvSpPr>
            <a:spLocks noGrp="1"/>
          </p:cNvSpPr>
          <p:nvPr>
            <p:ph type="body" idx="1"/>
          </p:nvPr>
        </p:nvSpPr>
        <p:spPr>
          <a:xfrm>
            <a:off x="682625" y="1562315"/>
            <a:ext cx="10811510" cy="4370427"/>
          </a:xfrm>
        </p:spPr>
        <p:txBody>
          <a:bodyPr/>
          <a:lstStyle/>
          <a:p>
            <a:pPr>
              <a:buNone/>
            </a:pPr>
            <a:r>
              <a:rPr lang="en-US" sz="2000" b="1" dirty="0"/>
              <a:t>Internship Highlights:</a:t>
            </a:r>
            <a:endParaRPr lang="en-US" sz="2000" dirty="0"/>
          </a:p>
          <a:p>
            <a:pPr marL="285750" indent="-285750">
              <a:buFont typeface="Arial" panose="020B0604020202020204" pitchFamily="34" charset="0"/>
              <a:buChar char="•"/>
            </a:pPr>
            <a:r>
              <a:rPr lang="en-US" dirty="0"/>
              <a:t>Exposure to real datasets and practical problem statements</a:t>
            </a:r>
          </a:p>
          <a:p>
            <a:pPr marL="285750" indent="-285750">
              <a:buFont typeface="Arial" panose="020B0604020202020204" pitchFamily="34" charset="0"/>
              <a:buChar char="•"/>
            </a:pPr>
            <a:r>
              <a:rPr lang="en-US" dirty="0"/>
              <a:t>Experience working with </a:t>
            </a:r>
            <a:r>
              <a:rPr lang="en-US" dirty="0" err="1"/>
              <a:t>MLOps</a:t>
            </a:r>
            <a:r>
              <a:rPr lang="en-US" dirty="0"/>
              <a:t>, data pipelines, and model deployment</a:t>
            </a:r>
          </a:p>
          <a:p>
            <a:pPr marL="285750" indent="-285750">
              <a:buFont typeface="Arial" panose="020B0604020202020204" pitchFamily="34" charset="0"/>
              <a:buChar char="•"/>
            </a:pPr>
            <a:r>
              <a:rPr lang="en-US" dirty="0"/>
              <a:t>Weekly reviews and progress evaluations with mentors from IIMSTC</a:t>
            </a:r>
          </a:p>
          <a:p>
            <a:pPr marL="285750" indent="-285750">
              <a:buFont typeface="Arial" panose="020B0604020202020204" pitchFamily="34" charset="0"/>
              <a:buChar char="•"/>
            </a:pPr>
            <a:r>
              <a:rPr lang="en-US" dirty="0"/>
              <a:t>Opportunity to contribute to research and product-level outcomes</a:t>
            </a:r>
          </a:p>
          <a:p>
            <a:pPr>
              <a:buFont typeface="Arial" panose="020B0604020202020204" pitchFamily="34" charset="0"/>
              <a:buChar char="•"/>
            </a:pPr>
            <a:endParaRPr lang="en-US" dirty="0"/>
          </a:p>
          <a:p>
            <a:pPr>
              <a:buNone/>
            </a:pPr>
            <a:r>
              <a:rPr lang="en-US" sz="2000" b="1" dirty="0"/>
              <a:t>Roles Available:</a:t>
            </a:r>
            <a:endParaRPr lang="en-US" sz="2000" dirty="0"/>
          </a:p>
          <a:p>
            <a:pPr marL="285750" indent="-285750">
              <a:buFont typeface="Arial" panose="020B0604020202020204" pitchFamily="34" charset="0"/>
              <a:buChar char="•"/>
            </a:pPr>
            <a:r>
              <a:rPr lang="en-US" b="1" dirty="0"/>
              <a:t>Data Analyst:</a:t>
            </a:r>
            <a:r>
              <a:rPr lang="en-US" dirty="0"/>
              <a:t> Responsible for data cleaning, processing, and visualization using tools such as Python, Pandas, and Power BI</a:t>
            </a:r>
          </a:p>
          <a:p>
            <a:pPr marL="285750" indent="-285750">
              <a:buFont typeface="Arial" panose="020B0604020202020204" pitchFamily="34" charset="0"/>
              <a:buChar char="•"/>
            </a:pPr>
            <a:r>
              <a:rPr lang="en-US" b="1" dirty="0"/>
              <a:t>Machine Learning Engineer:</a:t>
            </a:r>
            <a:r>
              <a:rPr lang="en-US" dirty="0"/>
              <a:t> Works on model training, validation, and optimization using libraries such as scikit-learn, TensorFlow, and PyTorch</a:t>
            </a:r>
          </a:p>
          <a:p>
            <a:pPr marL="285750" indent="-285750">
              <a:buFont typeface="Arial" panose="020B0604020202020204" pitchFamily="34" charset="0"/>
              <a:buChar char="•"/>
            </a:pPr>
            <a:r>
              <a:rPr lang="en-US" b="1" dirty="0"/>
              <a:t>Data Engineer:</a:t>
            </a:r>
            <a:r>
              <a:rPr lang="en-US" dirty="0"/>
              <a:t> Focuses on pipeline creation, ETL processes, and database management</a:t>
            </a:r>
          </a:p>
          <a:p>
            <a:pPr marL="285750" indent="-285750">
              <a:buFont typeface="Arial" panose="020B0604020202020204" pitchFamily="34" charset="0"/>
              <a:buChar char="•"/>
            </a:pPr>
            <a:r>
              <a:rPr lang="en-US" b="1" dirty="0"/>
              <a:t>AI Research Intern:</a:t>
            </a:r>
            <a:r>
              <a:rPr lang="en-US" dirty="0"/>
              <a:t> Conducts experimentation in areas such as Natural Language Processing (NLP), computer vision, and model fine-tuning</a:t>
            </a:r>
          </a:p>
          <a:p>
            <a:pPr>
              <a:buNone/>
            </a:pPr>
            <a:endParaRPr lang="en-US" dirty="0"/>
          </a:p>
          <a:p>
            <a:pPr>
              <a:buNone/>
            </a:pPr>
            <a:r>
              <a:rPr lang="en-US" sz="2000" b="1" dirty="0"/>
              <a:t>Certificate:</a:t>
            </a:r>
            <a:br>
              <a:rPr lang="en-US" dirty="0"/>
            </a:br>
            <a:r>
              <a:rPr lang="en-US" dirty="0"/>
              <a:t>AIIMS Technology Council</a:t>
            </a:r>
          </a:p>
          <a:p>
            <a:endParaRPr lang="en-IN" dirty="0"/>
          </a:p>
        </p:txBody>
      </p:sp>
      <p:sp>
        <p:nvSpPr>
          <p:cNvPr id="4" name="Title 1">
            <a:extLst>
              <a:ext uri="{FF2B5EF4-FFF2-40B4-BE49-F238E27FC236}">
                <a16:creationId xmlns:a16="http://schemas.microsoft.com/office/drawing/2014/main" id="{0219534A-5CC4-0B0E-96E3-09E203CB7D55}"/>
              </a:ext>
            </a:extLst>
          </p:cNvPr>
          <p:cNvSpPr>
            <a:spLocks noGrp="1"/>
          </p:cNvSpPr>
          <p:nvPr>
            <p:ph type="title"/>
          </p:nvPr>
        </p:nvSpPr>
        <p:spPr>
          <a:xfrm>
            <a:off x="1819275" y="244103"/>
            <a:ext cx="8553450" cy="1096665"/>
          </a:xfrm>
        </p:spPr>
        <p:txBody>
          <a:bodyPr/>
          <a:lstStyle/>
          <a:p>
            <a:pPr algn="ctr"/>
            <a:r>
              <a:rPr lang="en-IN" spc="-10" dirty="0"/>
              <a:t>INTERNSHIP OBJECTIVES</a:t>
            </a:r>
            <a:br>
              <a:rPr lang="en-IN" spc="-10" dirty="0"/>
            </a:br>
            <a:endParaRPr lang="en-IN" dirty="0"/>
          </a:p>
        </p:txBody>
      </p:sp>
    </p:spTree>
    <p:extLst>
      <p:ext uri="{BB962C8B-B14F-4D97-AF65-F5344CB8AC3E}">
        <p14:creationId xmlns:p14="http://schemas.microsoft.com/office/powerpoint/2010/main" val="2136135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FC8C3-226F-E00D-4265-F0B1D9E38711}"/>
              </a:ext>
            </a:extLst>
          </p:cNvPr>
          <p:cNvSpPr>
            <a:spLocks noGrp="1"/>
          </p:cNvSpPr>
          <p:nvPr>
            <p:ph type="title"/>
          </p:nvPr>
        </p:nvSpPr>
        <p:spPr>
          <a:xfrm>
            <a:off x="1127448" y="404664"/>
            <a:ext cx="10585176" cy="861606"/>
          </a:xfrm>
        </p:spPr>
        <p:txBody>
          <a:bodyPr/>
          <a:lstStyle/>
          <a:p>
            <a:pPr algn="ctr"/>
            <a:r>
              <a:rPr lang="en-IN" dirty="0"/>
              <a:t>INTERNSHIP PLAN / SCHEDULE</a:t>
            </a:r>
          </a:p>
        </p:txBody>
      </p:sp>
      <p:sp>
        <p:nvSpPr>
          <p:cNvPr id="3" name="Text Placeholder 2">
            <a:extLst>
              <a:ext uri="{FF2B5EF4-FFF2-40B4-BE49-F238E27FC236}">
                <a16:creationId xmlns:a16="http://schemas.microsoft.com/office/drawing/2014/main" id="{BCC9CBA9-9877-8AA1-7716-D200710C521E}"/>
              </a:ext>
            </a:extLst>
          </p:cNvPr>
          <p:cNvSpPr>
            <a:spLocks noGrp="1"/>
          </p:cNvSpPr>
          <p:nvPr>
            <p:ph type="body" idx="1"/>
          </p:nvPr>
        </p:nvSpPr>
        <p:spPr>
          <a:xfrm>
            <a:off x="682625" y="1562315"/>
            <a:ext cx="10811510" cy="3710631"/>
          </a:xfrm>
        </p:spPr>
        <p:txBody>
          <a:bodyPr/>
          <a:lstStyle/>
          <a:p>
            <a:pPr algn="ctr"/>
            <a:r>
              <a:rPr lang="en-US" sz="2800" b="1" dirty="0"/>
              <a:t>WEEK 1</a:t>
            </a:r>
          </a:p>
          <a:p>
            <a:endParaRPr lang="en-US" dirty="0"/>
          </a:p>
          <a:p>
            <a:r>
              <a:rPr lang="en-US" dirty="0"/>
              <a:t> Duration: 3</a:t>
            </a:r>
            <a:r>
              <a:rPr lang="en-US" baseline="30000" dirty="0"/>
              <a:t>rd</a:t>
            </a:r>
            <a:r>
              <a:rPr lang="en-US" dirty="0"/>
              <a:t> February 2026 - 7</a:t>
            </a:r>
            <a:r>
              <a:rPr lang="en-US" baseline="30000" dirty="0"/>
              <a:t>th</a:t>
            </a:r>
            <a:r>
              <a:rPr lang="en-US" dirty="0"/>
              <a:t> February 2026</a:t>
            </a:r>
          </a:p>
          <a:p>
            <a:endParaRPr lang="en-US" dirty="0"/>
          </a:p>
          <a:p>
            <a:pPr marL="285750" indent="-285750">
              <a:lnSpc>
                <a:spcPct val="150000"/>
              </a:lnSpc>
              <a:buFont typeface="Arial" panose="020B0604020202020204" pitchFamily="34" charset="0"/>
              <a:buChar char="•"/>
            </a:pPr>
            <a:r>
              <a:rPr lang="en-US" dirty="0"/>
              <a:t>The first week of the internship consisted of the introductory session and induction program, introduction to the council members and other panel members.</a:t>
            </a:r>
          </a:p>
          <a:p>
            <a:pPr marL="285750" indent="-285750">
              <a:lnSpc>
                <a:spcPct val="150000"/>
              </a:lnSpc>
              <a:buFont typeface="Arial" panose="020B0604020202020204" pitchFamily="34" charset="0"/>
              <a:buChar char="•"/>
            </a:pPr>
            <a:r>
              <a:rPr lang="en-US" dirty="0"/>
              <a:t>It started with explanation to the working of the internship, benefits and other details regarding the same.</a:t>
            </a:r>
          </a:p>
          <a:p>
            <a:pPr marL="285750" indent="-285750">
              <a:lnSpc>
                <a:spcPct val="150000"/>
              </a:lnSpc>
              <a:buFont typeface="Arial" panose="020B0604020202020204" pitchFamily="34" charset="0"/>
              <a:buChar char="•"/>
            </a:pPr>
            <a:r>
              <a:rPr lang="en-US" dirty="0"/>
              <a:t>After the introductory session, instructions was  passed on which was followed for further works.</a:t>
            </a:r>
          </a:p>
          <a:p>
            <a:pPr marL="285750" indent="-285750">
              <a:lnSpc>
                <a:spcPct val="150000"/>
              </a:lnSpc>
              <a:buFont typeface="Arial" panose="020B0604020202020204" pitchFamily="34" charset="0"/>
              <a:buChar char="•"/>
            </a:pPr>
            <a:r>
              <a:rPr lang="en-US" dirty="0"/>
              <a:t>All necessary software requirements and installations were done.</a:t>
            </a:r>
          </a:p>
          <a:p>
            <a:pPr marL="285750" indent="-285750">
              <a:lnSpc>
                <a:spcPct val="150000"/>
              </a:lnSpc>
              <a:buFont typeface="Arial" panose="020B0604020202020204" pitchFamily="34" charset="0"/>
              <a:buChar char="•"/>
            </a:pPr>
            <a:r>
              <a:rPr lang="en-US" dirty="0"/>
              <a:t>Preliminary preparations and checking of technical aspects were carried out.</a:t>
            </a:r>
          </a:p>
          <a:p>
            <a:pPr marL="285750" indent="-285750">
              <a:lnSpc>
                <a:spcPct val="150000"/>
              </a:lnSpc>
              <a:buFont typeface="Arial" panose="020B0604020202020204" pitchFamily="34" charset="0"/>
              <a:buChar char="•"/>
            </a:pPr>
            <a:r>
              <a:rPr lang="en-US" dirty="0"/>
              <a:t>Means of communication was established.</a:t>
            </a:r>
          </a:p>
        </p:txBody>
      </p:sp>
    </p:spTree>
    <p:extLst>
      <p:ext uri="{BB962C8B-B14F-4D97-AF65-F5344CB8AC3E}">
        <p14:creationId xmlns:p14="http://schemas.microsoft.com/office/powerpoint/2010/main" val="507287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5862F33-3A53-6C73-DA41-0BDF023CB0C7}"/>
              </a:ext>
            </a:extLst>
          </p:cNvPr>
          <p:cNvSpPr>
            <a:spLocks noGrp="1"/>
          </p:cNvSpPr>
          <p:nvPr>
            <p:ph type="body" idx="1"/>
          </p:nvPr>
        </p:nvSpPr>
        <p:spPr>
          <a:xfrm>
            <a:off x="682625" y="1562315"/>
            <a:ext cx="10811510" cy="4449295"/>
          </a:xfrm>
        </p:spPr>
        <p:txBody>
          <a:bodyPr/>
          <a:lstStyle/>
          <a:p>
            <a:pPr algn="ctr"/>
            <a:r>
              <a:rPr lang="en-US" sz="2800" b="1" dirty="0"/>
              <a:t>WEEK 2</a:t>
            </a:r>
          </a:p>
          <a:p>
            <a:endParaRPr lang="en-US" dirty="0"/>
          </a:p>
          <a:p>
            <a:r>
              <a:rPr lang="en-US" dirty="0"/>
              <a:t> Duration: 9</a:t>
            </a:r>
            <a:r>
              <a:rPr lang="en-US" baseline="30000" dirty="0"/>
              <a:t>th</a:t>
            </a:r>
            <a:r>
              <a:rPr lang="en-US" dirty="0"/>
              <a:t> February 2026 - 14</a:t>
            </a:r>
            <a:r>
              <a:rPr lang="en-US" baseline="30000" dirty="0"/>
              <a:t>th</a:t>
            </a:r>
            <a:r>
              <a:rPr lang="en-US" dirty="0"/>
              <a:t> February 2026</a:t>
            </a:r>
          </a:p>
          <a:p>
            <a:endParaRPr lang="en-US" dirty="0"/>
          </a:p>
          <a:p>
            <a:pPr marL="285750" indent="-285750">
              <a:lnSpc>
                <a:spcPct val="150000"/>
              </a:lnSpc>
              <a:buFont typeface="Arial" panose="020B0604020202020204" pitchFamily="34" charset="0"/>
              <a:buChar char="•"/>
            </a:pPr>
            <a:r>
              <a:rPr lang="en-US" dirty="0"/>
              <a:t>The second week of the internship began with introduction to the programming language Python.</a:t>
            </a:r>
          </a:p>
          <a:p>
            <a:pPr marL="285750" indent="-285750">
              <a:lnSpc>
                <a:spcPct val="150000"/>
              </a:lnSpc>
              <a:buFont typeface="Arial" panose="020B0604020202020204" pitchFamily="34" charset="0"/>
              <a:buChar char="•"/>
            </a:pPr>
            <a:r>
              <a:rPr lang="en-US" dirty="0"/>
              <a:t>Python is the most widely used programming language as it provides simple syntax and powerful libraries that make data analysis and model development easier.</a:t>
            </a:r>
          </a:p>
          <a:p>
            <a:pPr marL="285750" indent="-285750">
              <a:lnSpc>
                <a:spcPct val="150000"/>
              </a:lnSpc>
              <a:buFont typeface="Arial" panose="020B0604020202020204" pitchFamily="34" charset="0"/>
              <a:buChar char="•"/>
            </a:pPr>
            <a:r>
              <a:rPr lang="en-US" dirty="0"/>
              <a:t>Concepts of variables, constants, coding basics, looping statements, functions </a:t>
            </a:r>
            <a:r>
              <a:rPr lang="en-US" dirty="0" err="1"/>
              <a:t>etc</a:t>
            </a:r>
            <a:r>
              <a:rPr lang="en-US" dirty="0"/>
              <a:t> were taught.</a:t>
            </a:r>
          </a:p>
          <a:p>
            <a:pPr marL="285750" indent="-285750">
              <a:lnSpc>
                <a:spcPct val="150000"/>
              </a:lnSpc>
              <a:buFont typeface="Arial" panose="020B0604020202020204" pitchFamily="34" charset="0"/>
              <a:buChar char="•"/>
            </a:pPr>
            <a:r>
              <a:rPr lang="en-US" dirty="0"/>
              <a:t>Solving of problems on </a:t>
            </a:r>
            <a:r>
              <a:rPr lang="en-US" dirty="0" err="1"/>
              <a:t>HackerRank</a:t>
            </a:r>
            <a:r>
              <a:rPr lang="en-US" dirty="0"/>
              <a:t> to gain more hands on experience to solve coding problems.</a:t>
            </a:r>
          </a:p>
          <a:p>
            <a:pPr marL="285750" indent="-285750">
              <a:lnSpc>
                <a:spcPct val="150000"/>
              </a:lnSpc>
              <a:buFont typeface="Arial" panose="020B0604020202020204" pitchFamily="34" charset="0"/>
              <a:buChar char="•"/>
            </a:pPr>
            <a:r>
              <a:rPr lang="en-US" dirty="0"/>
              <a:t>Concepts of arrays, lists, dictionaries, tuples etc.</a:t>
            </a:r>
          </a:p>
          <a:p>
            <a:pPr marL="285750" indent="-285750">
              <a:lnSpc>
                <a:spcPct val="150000"/>
              </a:lnSpc>
              <a:buFont typeface="Arial" panose="020B0604020202020204" pitchFamily="34" charset="0"/>
              <a:buChar char="•"/>
            </a:pPr>
            <a:r>
              <a:rPr lang="en-US" dirty="0"/>
              <a:t>Individual learning on these concepts and new concepts was carried out.</a:t>
            </a:r>
          </a:p>
          <a:p>
            <a:pPr marL="285750" indent="-285750">
              <a:lnSpc>
                <a:spcPct val="150000"/>
              </a:lnSpc>
              <a:buFont typeface="Arial" panose="020B0604020202020204" pitchFamily="34" charset="0"/>
              <a:buChar char="•"/>
            </a:pPr>
            <a:r>
              <a:rPr lang="en-US" dirty="0"/>
              <a:t>Division of cohort members and allotment of roles among the team was carried out.</a:t>
            </a:r>
          </a:p>
          <a:p>
            <a:pPr>
              <a:lnSpc>
                <a:spcPct val="150000"/>
              </a:lnSpc>
            </a:pPr>
            <a:endParaRPr lang="en-US" dirty="0"/>
          </a:p>
        </p:txBody>
      </p:sp>
      <p:sp>
        <p:nvSpPr>
          <p:cNvPr id="8" name="Title 1">
            <a:extLst>
              <a:ext uri="{FF2B5EF4-FFF2-40B4-BE49-F238E27FC236}">
                <a16:creationId xmlns:a16="http://schemas.microsoft.com/office/drawing/2014/main" id="{CA1DA856-8734-05EF-8595-D2B524FE61D1}"/>
              </a:ext>
            </a:extLst>
          </p:cNvPr>
          <p:cNvSpPr txBox="1">
            <a:spLocks/>
          </p:cNvSpPr>
          <p:nvPr/>
        </p:nvSpPr>
        <p:spPr>
          <a:xfrm>
            <a:off x="1127448" y="404664"/>
            <a:ext cx="10585176" cy="677108"/>
          </a:xfrm>
          <a:prstGeom prst="rect">
            <a:avLst/>
          </a:prstGeom>
        </p:spPr>
        <p:txBody>
          <a:bodyPr wrap="square" lIns="0" tIns="0" rIns="0" bIns="0">
            <a:spAutoFit/>
          </a:bodyPr>
          <a:lstStyle>
            <a:lvl1pPr>
              <a:defRPr sz="4400" b="1" i="0">
                <a:solidFill>
                  <a:schemeClr val="tx2"/>
                </a:solidFill>
                <a:latin typeface="Times New Roman" panose="02020603050405020304"/>
                <a:ea typeface="+mj-ea"/>
                <a:cs typeface="Times New Roman" panose="02020603050405020304"/>
              </a:defRPr>
            </a:lvl1pPr>
          </a:lstStyle>
          <a:p>
            <a:pPr algn="ctr"/>
            <a:r>
              <a:rPr lang="en-IN" dirty="0"/>
              <a:t>INTERNSHIP PLAN / SCHEDULE</a:t>
            </a:r>
          </a:p>
        </p:txBody>
      </p:sp>
    </p:spTree>
    <p:extLst>
      <p:ext uri="{BB962C8B-B14F-4D97-AF65-F5344CB8AC3E}">
        <p14:creationId xmlns:p14="http://schemas.microsoft.com/office/powerpoint/2010/main" val="2457785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B3C3460-B5E9-1CFF-9282-A524A699F20E}"/>
              </a:ext>
            </a:extLst>
          </p:cNvPr>
          <p:cNvSpPr>
            <a:spLocks noGrp="1"/>
          </p:cNvSpPr>
          <p:nvPr>
            <p:ph type="title"/>
          </p:nvPr>
        </p:nvSpPr>
        <p:spPr>
          <a:xfrm>
            <a:off x="1127448" y="407154"/>
            <a:ext cx="10585176" cy="861606"/>
          </a:xfrm>
        </p:spPr>
        <p:txBody>
          <a:bodyPr/>
          <a:lstStyle/>
          <a:p>
            <a:pPr algn="ctr"/>
            <a:r>
              <a:rPr lang="en-IN" dirty="0"/>
              <a:t>INTERNSHIP PLAN / SCHEDULE</a:t>
            </a:r>
          </a:p>
        </p:txBody>
      </p:sp>
      <p:sp>
        <p:nvSpPr>
          <p:cNvPr id="7" name="Text Placeholder 2">
            <a:extLst>
              <a:ext uri="{FF2B5EF4-FFF2-40B4-BE49-F238E27FC236}">
                <a16:creationId xmlns:a16="http://schemas.microsoft.com/office/drawing/2014/main" id="{D44E900C-BCE9-8731-961A-3BE527F08F0D}"/>
              </a:ext>
            </a:extLst>
          </p:cNvPr>
          <p:cNvSpPr>
            <a:spLocks noGrp="1"/>
          </p:cNvSpPr>
          <p:nvPr>
            <p:ph type="body" idx="1"/>
          </p:nvPr>
        </p:nvSpPr>
        <p:spPr>
          <a:xfrm>
            <a:off x="682625" y="1562315"/>
            <a:ext cx="10811510" cy="4079963"/>
          </a:xfrm>
        </p:spPr>
        <p:txBody>
          <a:bodyPr/>
          <a:lstStyle/>
          <a:p>
            <a:pPr algn="ctr"/>
            <a:r>
              <a:rPr lang="en-US" sz="2800" b="1" dirty="0"/>
              <a:t>WEEK 3</a:t>
            </a:r>
          </a:p>
          <a:p>
            <a:endParaRPr lang="en-US" dirty="0"/>
          </a:p>
          <a:p>
            <a:r>
              <a:rPr lang="en-US" dirty="0"/>
              <a:t> Duration: 16</a:t>
            </a:r>
            <a:r>
              <a:rPr lang="en-US" baseline="30000" dirty="0"/>
              <a:t>th</a:t>
            </a:r>
            <a:r>
              <a:rPr lang="en-US" dirty="0"/>
              <a:t> February 2026 - 21</a:t>
            </a:r>
            <a:r>
              <a:rPr lang="en-US" baseline="30000" dirty="0"/>
              <a:t>th</a:t>
            </a:r>
            <a:r>
              <a:rPr lang="en-US" dirty="0"/>
              <a:t> February 2026</a:t>
            </a:r>
          </a:p>
          <a:p>
            <a:endParaRPr lang="en-US" dirty="0"/>
          </a:p>
          <a:p>
            <a:pPr marL="285750" indent="-285750">
              <a:lnSpc>
                <a:spcPct val="150000"/>
              </a:lnSpc>
              <a:buFont typeface="Arial" panose="020B0604020202020204" pitchFamily="34" charset="0"/>
              <a:buChar char="•"/>
            </a:pPr>
            <a:r>
              <a:rPr lang="en-US" dirty="0"/>
              <a:t>The third week comprised the learning of Machine learning concepts.</a:t>
            </a:r>
          </a:p>
          <a:p>
            <a:pPr marL="285750" indent="-285750">
              <a:lnSpc>
                <a:spcPct val="150000"/>
              </a:lnSpc>
              <a:buFont typeface="Arial" panose="020B0604020202020204" pitchFamily="34" charset="0"/>
              <a:buChar char="•"/>
            </a:pPr>
            <a:r>
              <a:rPr lang="en-US" dirty="0"/>
              <a:t>Basic concepts of machine learning was taught during live sessions.</a:t>
            </a:r>
          </a:p>
          <a:p>
            <a:pPr marL="285750" indent="-285750">
              <a:lnSpc>
                <a:spcPct val="150000"/>
              </a:lnSpc>
              <a:buFont typeface="Arial" panose="020B0604020202020204" pitchFamily="34" charset="0"/>
              <a:buChar char="•"/>
            </a:pPr>
            <a:r>
              <a:rPr lang="en-US" dirty="0"/>
              <a:t>Supervised learning, Linear Regression, Polynomial regression, Logistic Regression </a:t>
            </a:r>
            <a:r>
              <a:rPr lang="en-US" dirty="0" err="1"/>
              <a:t>etc</a:t>
            </a:r>
            <a:r>
              <a:rPr lang="en-US" dirty="0"/>
              <a:t> along with their implementations were learnt.</a:t>
            </a:r>
          </a:p>
          <a:p>
            <a:pPr marL="285750" indent="-285750">
              <a:lnSpc>
                <a:spcPct val="150000"/>
              </a:lnSpc>
              <a:buFont typeface="Arial" panose="020B0604020202020204" pitchFamily="34" charset="0"/>
              <a:buChar char="•"/>
            </a:pPr>
            <a:r>
              <a:rPr lang="en-US" dirty="0"/>
              <a:t>Detailed learning of functions used, data preprocessing, exploratory data analysis, and feature engineering was learnt.</a:t>
            </a:r>
          </a:p>
          <a:p>
            <a:pPr marL="285750" indent="-285750">
              <a:lnSpc>
                <a:spcPct val="150000"/>
              </a:lnSpc>
              <a:buFont typeface="Arial" panose="020B0604020202020204" pitchFamily="34" charset="0"/>
              <a:buChar char="•"/>
            </a:pPr>
            <a:r>
              <a:rPr lang="en-US" dirty="0"/>
              <a:t>Other concepts include One Hot Encoding, Label encoding, column transformation, ML pipeline, normalization, Standard Scaler.</a:t>
            </a:r>
          </a:p>
          <a:p>
            <a:pPr>
              <a:lnSpc>
                <a:spcPct val="150000"/>
              </a:lnSpc>
            </a:pPr>
            <a:endParaRPr lang="en-US" dirty="0"/>
          </a:p>
        </p:txBody>
      </p:sp>
    </p:spTree>
    <p:extLst>
      <p:ext uri="{BB962C8B-B14F-4D97-AF65-F5344CB8AC3E}">
        <p14:creationId xmlns:p14="http://schemas.microsoft.com/office/powerpoint/2010/main" val="424527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ABAADDB-36A0-6834-07E2-206B1B0099A2}"/>
              </a:ext>
            </a:extLst>
          </p:cNvPr>
          <p:cNvSpPr>
            <a:spLocks noGrp="1"/>
          </p:cNvSpPr>
          <p:nvPr>
            <p:ph type="title"/>
          </p:nvPr>
        </p:nvSpPr>
        <p:spPr>
          <a:xfrm>
            <a:off x="1127448" y="407154"/>
            <a:ext cx="10585176" cy="861606"/>
          </a:xfrm>
        </p:spPr>
        <p:txBody>
          <a:bodyPr/>
          <a:lstStyle/>
          <a:p>
            <a:pPr algn="ctr"/>
            <a:r>
              <a:rPr lang="en-IN" dirty="0"/>
              <a:t>INTERNSHIP PLAN / SCHEDULE</a:t>
            </a:r>
          </a:p>
        </p:txBody>
      </p:sp>
      <p:sp>
        <p:nvSpPr>
          <p:cNvPr id="7" name="Text Placeholder 2">
            <a:extLst>
              <a:ext uri="{FF2B5EF4-FFF2-40B4-BE49-F238E27FC236}">
                <a16:creationId xmlns:a16="http://schemas.microsoft.com/office/drawing/2014/main" id="{BFB3C660-13A9-1D2A-F38C-D990D315BC79}"/>
              </a:ext>
            </a:extLst>
          </p:cNvPr>
          <p:cNvSpPr>
            <a:spLocks noGrp="1"/>
          </p:cNvSpPr>
          <p:nvPr>
            <p:ph type="body" idx="1"/>
          </p:nvPr>
        </p:nvSpPr>
        <p:spPr>
          <a:xfrm>
            <a:off x="682625" y="1562315"/>
            <a:ext cx="10811510" cy="3710631"/>
          </a:xfrm>
        </p:spPr>
        <p:txBody>
          <a:bodyPr/>
          <a:lstStyle/>
          <a:p>
            <a:pPr algn="ctr"/>
            <a:r>
              <a:rPr lang="en-US" sz="2800" b="1" dirty="0"/>
              <a:t>WEEK 4</a:t>
            </a:r>
          </a:p>
          <a:p>
            <a:endParaRPr lang="en-US" dirty="0"/>
          </a:p>
          <a:p>
            <a:r>
              <a:rPr lang="en-US" dirty="0"/>
              <a:t> Duration: 23</a:t>
            </a:r>
            <a:r>
              <a:rPr lang="en-US" baseline="30000" dirty="0"/>
              <a:t>rd</a:t>
            </a:r>
            <a:r>
              <a:rPr lang="en-US" dirty="0"/>
              <a:t>  February 2026 - 28</a:t>
            </a:r>
            <a:r>
              <a:rPr lang="en-US" baseline="30000" dirty="0"/>
              <a:t>th</a:t>
            </a:r>
            <a:r>
              <a:rPr lang="en-US" dirty="0"/>
              <a:t> February 2026</a:t>
            </a:r>
          </a:p>
          <a:p>
            <a:endParaRPr lang="en-US" dirty="0"/>
          </a:p>
          <a:p>
            <a:pPr marL="285750" indent="-285750">
              <a:lnSpc>
                <a:spcPct val="150000"/>
              </a:lnSpc>
              <a:buFont typeface="Arial" panose="020B0604020202020204" pitchFamily="34" charset="0"/>
              <a:buChar char="•"/>
            </a:pPr>
            <a:r>
              <a:rPr lang="en-US" dirty="0"/>
              <a:t>The fourth week comprised the continuation learning of Machine learning concepts.</a:t>
            </a:r>
          </a:p>
          <a:p>
            <a:pPr marL="285750" indent="-285750">
              <a:lnSpc>
                <a:spcPct val="150000"/>
              </a:lnSpc>
              <a:buFont typeface="Arial" panose="020B0604020202020204" pitchFamily="34" charset="0"/>
              <a:buChar char="•"/>
            </a:pPr>
            <a:r>
              <a:rPr lang="en-US" dirty="0"/>
              <a:t>Logistic Regression, classification basics were learnt.</a:t>
            </a:r>
          </a:p>
          <a:p>
            <a:pPr marL="285750" indent="-285750">
              <a:lnSpc>
                <a:spcPct val="150000"/>
              </a:lnSpc>
              <a:buFont typeface="Arial" panose="020B0604020202020204" pitchFamily="34" charset="0"/>
              <a:buChar char="•"/>
            </a:pPr>
            <a:r>
              <a:rPr lang="en-US" dirty="0"/>
              <a:t>Detailed learning of the evaluation metrics of both Regression and Classification were learnt.</a:t>
            </a:r>
          </a:p>
          <a:p>
            <a:pPr marL="285750" indent="-285750">
              <a:lnSpc>
                <a:spcPct val="150000"/>
              </a:lnSpc>
              <a:buFont typeface="Arial" panose="020B0604020202020204" pitchFamily="34" charset="0"/>
              <a:buChar char="•"/>
            </a:pPr>
            <a:r>
              <a:rPr lang="en-US" dirty="0"/>
              <a:t>Other concepts include Ensemble learning, Entropy, Information Gain, Bootstrapping, Voting and others were covered.</a:t>
            </a:r>
          </a:p>
          <a:p>
            <a:pPr marL="285750" indent="-285750">
              <a:lnSpc>
                <a:spcPct val="150000"/>
              </a:lnSpc>
              <a:buFont typeface="Arial" panose="020B0604020202020204" pitchFamily="34" charset="0"/>
              <a:buChar char="•"/>
            </a:pPr>
            <a:r>
              <a:rPr lang="en-US" dirty="0"/>
              <a:t>Classification methods like Decision trees and random forest classifiers and their implementation were learnt.</a:t>
            </a:r>
          </a:p>
          <a:p>
            <a:pPr marL="285750" indent="-285750">
              <a:lnSpc>
                <a:spcPct val="150000"/>
              </a:lnSpc>
              <a:buFont typeface="Arial" panose="020B0604020202020204" pitchFamily="34" charset="0"/>
              <a:buChar char="•"/>
            </a:pPr>
            <a:r>
              <a:rPr lang="en-US" dirty="0"/>
              <a:t>Mini project was assigned based on the SDG goals and the entire team divided work and responsibility to complete the work.</a:t>
            </a:r>
          </a:p>
          <a:p>
            <a:pPr marL="285750" indent="-285750">
              <a:lnSpc>
                <a:spcPct val="150000"/>
              </a:lnSpc>
              <a:buFont typeface="Arial" panose="020B0604020202020204" pitchFamily="34" charset="0"/>
              <a:buChar char="•"/>
            </a:pPr>
            <a:endParaRPr lang="en-US" dirty="0"/>
          </a:p>
        </p:txBody>
      </p:sp>
    </p:spTree>
    <p:extLst>
      <p:ext uri="{BB962C8B-B14F-4D97-AF65-F5344CB8AC3E}">
        <p14:creationId xmlns:p14="http://schemas.microsoft.com/office/powerpoint/2010/main" val="504594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B92749-EDE3-4FAC-9113-CAB9CDB88812}"/>
              </a:ext>
            </a:extLst>
          </p:cNvPr>
          <p:cNvSpPr>
            <a:spLocks noGrp="1"/>
          </p:cNvSpPr>
          <p:nvPr>
            <p:ph type="title"/>
          </p:nvPr>
        </p:nvSpPr>
        <p:spPr>
          <a:xfrm>
            <a:off x="1127448" y="407154"/>
            <a:ext cx="10585176" cy="861606"/>
          </a:xfrm>
        </p:spPr>
        <p:txBody>
          <a:bodyPr/>
          <a:lstStyle/>
          <a:p>
            <a:pPr algn="ctr"/>
            <a:r>
              <a:rPr lang="en-IN" dirty="0"/>
              <a:t>INTERNSHIP PLAN / SCHEDULE</a:t>
            </a:r>
          </a:p>
        </p:txBody>
      </p:sp>
      <p:sp>
        <p:nvSpPr>
          <p:cNvPr id="7" name="Text Placeholder 2">
            <a:extLst>
              <a:ext uri="{FF2B5EF4-FFF2-40B4-BE49-F238E27FC236}">
                <a16:creationId xmlns:a16="http://schemas.microsoft.com/office/drawing/2014/main" id="{7C6AEFE9-D34E-A045-6D53-2B6B6C99311F}"/>
              </a:ext>
            </a:extLst>
          </p:cNvPr>
          <p:cNvSpPr>
            <a:spLocks noGrp="1"/>
          </p:cNvSpPr>
          <p:nvPr>
            <p:ph type="body" idx="1"/>
          </p:nvPr>
        </p:nvSpPr>
        <p:spPr>
          <a:xfrm>
            <a:off x="682625" y="1562315"/>
            <a:ext cx="10811510" cy="3710631"/>
          </a:xfrm>
        </p:spPr>
        <p:txBody>
          <a:bodyPr/>
          <a:lstStyle/>
          <a:p>
            <a:pPr algn="ctr"/>
            <a:r>
              <a:rPr lang="en-US" sz="2800" b="1" dirty="0"/>
              <a:t>WEEK 5</a:t>
            </a:r>
          </a:p>
          <a:p>
            <a:endParaRPr lang="en-US" dirty="0"/>
          </a:p>
          <a:p>
            <a:r>
              <a:rPr lang="en-US" dirty="0"/>
              <a:t> Duration: 2</a:t>
            </a:r>
            <a:r>
              <a:rPr lang="en-US" baseline="30000" dirty="0"/>
              <a:t>nd</a:t>
            </a:r>
            <a:r>
              <a:rPr lang="en-US" dirty="0"/>
              <a:t> March 2026 - 7</a:t>
            </a:r>
            <a:r>
              <a:rPr lang="en-US" baseline="30000" dirty="0"/>
              <a:t>th</a:t>
            </a:r>
            <a:r>
              <a:rPr lang="en-US" dirty="0"/>
              <a:t> March 2026</a:t>
            </a:r>
          </a:p>
          <a:p>
            <a:endParaRPr lang="en-US" dirty="0"/>
          </a:p>
          <a:p>
            <a:pPr marL="285750" indent="-285750">
              <a:lnSpc>
                <a:spcPct val="150000"/>
              </a:lnSpc>
              <a:buFont typeface="Arial" panose="020B0604020202020204" pitchFamily="34" charset="0"/>
              <a:buChar char="•"/>
            </a:pPr>
            <a:r>
              <a:rPr lang="en-US" dirty="0"/>
              <a:t>The fifth week comprised the continuation learning of Machine learning concepts.</a:t>
            </a:r>
          </a:p>
          <a:p>
            <a:pPr marL="285750" indent="-285750">
              <a:lnSpc>
                <a:spcPct val="150000"/>
              </a:lnSpc>
              <a:buFont typeface="Arial" panose="020B0604020202020204" pitchFamily="34" charset="0"/>
              <a:buChar char="•"/>
            </a:pPr>
            <a:r>
              <a:rPr lang="en-US" dirty="0"/>
              <a:t>Started with the Unsupervised Learning concepts.</a:t>
            </a:r>
          </a:p>
          <a:p>
            <a:pPr marL="285750" indent="-285750">
              <a:lnSpc>
                <a:spcPct val="150000"/>
              </a:lnSpc>
              <a:buFont typeface="Arial" panose="020B0604020202020204" pitchFamily="34" charset="0"/>
              <a:buChar char="•"/>
            </a:pPr>
            <a:r>
              <a:rPr lang="en-US" dirty="0"/>
              <a:t>Methods of classification such as KNN classification, </a:t>
            </a:r>
            <a:r>
              <a:rPr lang="en-US" dirty="0" err="1"/>
              <a:t>Kmeans</a:t>
            </a:r>
            <a:r>
              <a:rPr lang="en-US" dirty="0"/>
              <a:t> clustering, </a:t>
            </a:r>
            <a:r>
              <a:rPr lang="en-US" dirty="0" err="1"/>
              <a:t>etc</a:t>
            </a:r>
            <a:r>
              <a:rPr lang="en-US" dirty="0"/>
              <a:t> was taught and learnt.</a:t>
            </a:r>
          </a:p>
          <a:p>
            <a:pPr marL="285750" indent="-285750">
              <a:lnSpc>
                <a:spcPct val="150000"/>
              </a:lnSpc>
              <a:buFont typeface="Arial" panose="020B0604020202020204" pitchFamily="34" charset="0"/>
              <a:buChar char="•"/>
            </a:pPr>
            <a:r>
              <a:rPr lang="en-US" dirty="0" err="1"/>
              <a:t>Kmeans</a:t>
            </a:r>
            <a:r>
              <a:rPr lang="en-US" dirty="0"/>
              <a:t> algorithm, </a:t>
            </a:r>
            <a:r>
              <a:rPr lang="en-US" dirty="0" err="1"/>
              <a:t>Kmeans</a:t>
            </a:r>
            <a:r>
              <a:rPr lang="en-US" dirty="0"/>
              <a:t>++ algorithm, methods to find out number of clusters, were covered.</a:t>
            </a:r>
          </a:p>
          <a:p>
            <a:pPr marL="285750" indent="-285750">
              <a:lnSpc>
                <a:spcPct val="150000"/>
              </a:lnSpc>
              <a:buFont typeface="Arial" panose="020B0604020202020204" pitchFamily="34" charset="0"/>
              <a:buChar char="•"/>
            </a:pPr>
            <a:r>
              <a:rPr lang="en-US" dirty="0"/>
              <a:t>Clustering related concepts like types of clustering, linkage, usage and reading of </a:t>
            </a:r>
            <a:r>
              <a:rPr lang="en-US" dirty="0" err="1"/>
              <a:t>dendograms</a:t>
            </a:r>
            <a:r>
              <a:rPr lang="en-US" dirty="0"/>
              <a:t> </a:t>
            </a:r>
            <a:r>
              <a:rPr lang="en-US" dirty="0" err="1"/>
              <a:t>etc</a:t>
            </a:r>
            <a:r>
              <a:rPr lang="en-US" dirty="0"/>
              <a:t> was learnt.</a:t>
            </a:r>
          </a:p>
          <a:p>
            <a:pPr marL="285750" indent="-285750">
              <a:lnSpc>
                <a:spcPct val="150000"/>
              </a:lnSpc>
              <a:buFont typeface="Arial" panose="020B0604020202020204" pitchFamily="34" charset="0"/>
              <a:buChar char="•"/>
            </a:pPr>
            <a:r>
              <a:rPr lang="en-US" dirty="0"/>
              <a:t>Mini project assigned based on the SDG goals and the entire team divided work and responsibility to complete the work for the following week.</a:t>
            </a:r>
          </a:p>
        </p:txBody>
      </p:sp>
    </p:spTree>
    <p:extLst>
      <p:ext uri="{BB962C8B-B14F-4D97-AF65-F5344CB8AC3E}">
        <p14:creationId xmlns:p14="http://schemas.microsoft.com/office/powerpoint/2010/main" val="2083953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F95F5-008E-4EED-9308-49F406CAFAED}"/>
              </a:ext>
            </a:extLst>
          </p:cNvPr>
          <p:cNvSpPr>
            <a:spLocks noGrp="1"/>
          </p:cNvSpPr>
          <p:nvPr>
            <p:ph type="title"/>
          </p:nvPr>
        </p:nvSpPr>
        <p:spPr>
          <a:xfrm>
            <a:off x="1415480" y="208097"/>
            <a:ext cx="9690328" cy="1354217"/>
          </a:xfrm>
        </p:spPr>
        <p:txBody>
          <a:bodyPr/>
          <a:lstStyle/>
          <a:p>
            <a:pPr algn="ctr"/>
            <a:r>
              <a:rPr lang="en-IN" dirty="0"/>
              <a:t>TECHNOLOGIES / TOOLS USED</a:t>
            </a:r>
          </a:p>
        </p:txBody>
      </p:sp>
      <p:sp>
        <p:nvSpPr>
          <p:cNvPr id="3" name="Text Placeholder 2">
            <a:extLst>
              <a:ext uri="{FF2B5EF4-FFF2-40B4-BE49-F238E27FC236}">
                <a16:creationId xmlns:a16="http://schemas.microsoft.com/office/drawing/2014/main" id="{50671990-4C5A-6D68-3B7F-19D981FF7AAA}"/>
              </a:ext>
            </a:extLst>
          </p:cNvPr>
          <p:cNvSpPr>
            <a:spLocks noGrp="1"/>
          </p:cNvSpPr>
          <p:nvPr>
            <p:ph type="body" idx="1"/>
          </p:nvPr>
        </p:nvSpPr>
        <p:spPr>
          <a:xfrm>
            <a:off x="682625" y="1562314"/>
            <a:ext cx="10811510" cy="4678204"/>
          </a:xfrm>
        </p:spPr>
        <p:txBody>
          <a:bodyPr/>
          <a:lstStyle/>
          <a:p>
            <a:pPr>
              <a:buNone/>
            </a:pPr>
            <a:r>
              <a:rPr lang="en-IN" b="1" dirty="0"/>
              <a:t>Programming Languages: </a:t>
            </a:r>
            <a:r>
              <a:rPr lang="en-IN" dirty="0"/>
              <a:t>Python</a:t>
            </a:r>
          </a:p>
          <a:p>
            <a:endParaRPr lang="en-IN" dirty="0"/>
          </a:p>
          <a:p>
            <a:pPr>
              <a:buNone/>
            </a:pPr>
            <a:r>
              <a:rPr lang="en-IN" b="1" dirty="0"/>
              <a:t>Development Tools used: </a:t>
            </a:r>
            <a:r>
              <a:rPr lang="en-IN" dirty="0" err="1"/>
              <a:t>Jupyter</a:t>
            </a:r>
            <a:r>
              <a:rPr lang="en-IN" dirty="0"/>
              <a:t> Notebook, Google </a:t>
            </a:r>
            <a:r>
              <a:rPr lang="en-IN" dirty="0" err="1"/>
              <a:t>Colab</a:t>
            </a:r>
            <a:r>
              <a:rPr lang="en-IN" dirty="0"/>
              <a:t>, Visual Studio Code, Git and GitHub</a:t>
            </a:r>
          </a:p>
          <a:p>
            <a:pPr>
              <a:buFont typeface="Arial" panose="020B0604020202020204" pitchFamily="34" charset="0"/>
              <a:buChar char="•"/>
            </a:pPr>
            <a:endParaRPr lang="en-IN" dirty="0"/>
          </a:p>
          <a:p>
            <a:pPr>
              <a:buNone/>
            </a:pPr>
            <a:r>
              <a:rPr lang="en-IN" b="1" dirty="0"/>
              <a:t>Frameworks / Libraries</a:t>
            </a:r>
          </a:p>
          <a:p>
            <a:pPr marL="285750" indent="-285750">
              <a:buFont typeface="Arial" panose="020B0604020202020204" pitchFamily="34" charset="0"/>
              <a:buChar char="•"/>
            </a:pPr>
            <a:r>
              <a:rPr lang="en-IN" dirty="0"/>
              <a:t>NumPy</a:t>
            </a:r>
          </a:p>
          <a:p>
            <a:pPr marL="285750" indent="-285750">
              <a:buFont typeface="Arial" panose="020B0604020202020204" pitchFamily="34" charset="0"/>
              <a:buChar char="•"/>
            </a:pPr>
            <a:r>
              <a:rPr lang="en-IN" dirty="0"/>
              <a:t>Pandas</a:t>
            </a:r>
          </a:p>
          <a:p>
            <a:pPr marL="285750" indent="-285750">
              <a:buFont typeface="Arial" panose="020B0604020202020204" pitchFamily="34" charset="0"/>
              <a:buChar char="•"/>
            </a:pPr>
            <a:r>
              <a:rPr lang="en-IN" dirty="0"/>
              <a:t>Matplotlib</a:t>
            </a:r>
          </a:p>
          <a:p>
            <a:pPr marL="285750" indent="-285750">
              <a:buFont typeface="Arial" panose="020B0604020202020204" pitchFamily="34" charset="0"/>
              <a:buChar char="•"/>
            </a:pPr>
            <a:r>
              <a:rPr lang="en-IN" dirty="0"/>
              <a:t>Seaborn</a:t>
            </a:r>
          </a:p>
          <a:p>
            <a:pPr marL="285750" indent="-285750">
              <a:buFont typeface="Arial" panose="020B0604020202020204" pitchFamily="34" charset="0"/>
              <a:buChar char="•"/>
            </a:pPr>
            <a:r>
              <a:rPr lang="en-IN" dirty="0"/>
              <a:t>Scikit-learn</a:t>
            </a:r>
          </a:p>
          <a:p>
            <a:pPr marL="285750" indent="-285750">
              <a:buFont typeface="Arial" panose="020B0604020202020204" pitchFamily="34" charset="0"/>
              <a:buChar char="•"/>
            </a:pPr>
            <a:r>
              <a:rPr lang="en-IN" dirty="0"/>
              <a:t>TensorFlow / </a:t>
            </a:r>
            <a:r>
              <a:rPr lang="en-IN" dirty="0" err="1"/>
              <a:t>Keras</a:t>
            </a:r>
            <a:endParaRPr lang="en-IN" dirty="0"/>
          </a:p>
          <a:p>
            <a:pPr>
              <a:buFont typeface="Arial" panose="020B0604020202020204" pitchFamily="34" charset="0"/>
              <a:buChar char="•"/>
            </a:pPr>
            <a:endParaRPr lang="en-IN" dirty="0"/>
          </a:p>
          <a:p>
            <a:pPr>
              <a:buNone/>
            </a:pPr>
            <a:r>
              <a:rPr lang="en-IN" b="1" dirty="0"/>
              <a:t>Concepts Covered:</a:t>
            </a:r>
          </a:p>
          <a:p>
            <a:pPr marL="285750" indent="-285750">
              <a:buFont typeface="Arial" panose="020B0604020202020204" pitchFamily="34" charset="0"/>
              <a:buChar char="•"/>
            </a:pPr>
            <a:r>
              <a:rPr lang="en-IN" dirty="0"/>
              <a:t>Types of machine learning</a:t>
            </a:r>
          </a:p>
          <a:p>
            <a:pPr marL="285750" indent="-285750">
              <a:buFont typeface="Arial" panose="020B0604020202020204" pitchFamily="34" charset="0"/>
              <a:buChar char="•"/>
            </a:pPr>
            <a:r>
              <a:rPr lang="en-IN" dirty="0"/>
              <a:t>Data preprocessing</a:t>
            </a:r>
          </a:p>
          <a:p>
            <a:pPr marL="285750" indent="-285750">
              <a:buFont typeface="Arial" panose="020B0604020202020204" pitchFamily="34" charset="0"/>
              <a:buChar char="•"/>
            </a:pPr>
            <a:r>
              <a:rPr lang="en-IN" dirty="0"/>
              <a:t>Exploratory Data Analysis (EDA)</a:t>
            </a:r>
          </a:p>
          <a:p>
            <a:pPr marL="285750" indent="-285750">
              <a:buFont typeface="Arial" panose="020B0604020202020204" pitchFamily="34" charset="0"/>
              <a:buChar char="•"/>
            </a:pPr>
            <a:r>
              <a:rPr lang="en-IN" dirty="0"/>
              <a:t>Feature engineering</a:t>
            </a:r>
          </a:p>
          <a:p>
            <a:pPr marL="285750" indent="-285750">
              <a:buFont typeface="Arial" panose="020B0604020202020204" pitchFamily="34" charset="0"/>
              <a:buChar char="•"/>
            </a:pPr>
            <a:r>
              <a:rPr lang="en-IN" dirty="0"/>
              <a:t>Model evaluation and validation</a:t>
            </a:r>
          </a:p>
          <a:p>
            <a:endParaRPr lang="en-IN" dirty="0"/>
          </a:p>
        </p:txBody>
      </p:sp>
    </p:spTree>
    <p:extLst>
      <p:ext uri="{BB962C8B-B14F-4D97-AF65-F5344CB8AC3E}">
        <p14:creationId xmlns:p14="http://schemas.microsoft.com/office/powerpoint/2010/main" val="3445739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8A9BF-2AB1-5290-2603-66D55BA2EDA7}"/>
              </a:ext>
            </a:extLst>
          </p:cNvPr>
          <p:cNvSpPr>
            <a:spLocks noGrp="1"/>
          </p:cNvSpPr>
          <p:nvPr>
            <p:ph type="title"/>
          </p:nvPr>
        </p:nvSpPr>
        <p:spPr>
          <a:xfrm>
            <a:off x="1819046" y="332656"/>
            <a:ext cx="8553907" cy="677108"/>
          </a:xfrm>
        </p:spPr>
        <p:txBody>
          <a:bodyPr/>
          <a:lstStyle/>
          <a:p>
            <a:pPr algn="ctr"/>
            <a:r>
              <a:rPr lang="en-IN" dirty="0"/>
              <a:t>SKILLS GAINED</a:t>
            </a:r>
          </a:p>
        </p:txBody>
      </p:sp>
      <p:sp>
        <p:nvSpPr>
          <p:cNvPr id="4" name="Rectangle 1">
            <a:extLst>
              <a:ext uri="{FF2B5EF4-FFF2-40B4-BE49-F238E27FC236}">
                <a16:creationId xmlns:a16="http://schemas.microsoft.com/office/drawing/2014/main" id="{21CC29D1-A4E4-4901-133A-979D5D046D36}"/>
              </a:ext>
            </a:extLst>
          </p:cNvPr>
          <p:cNvSpPr>
            <a:spLocks noGrp="1" noChangeArrowheads="1"/>
          </p:cNvSpPr>
          <p:nvPr>
            <p:ph type="body" idx="1"/>
          </p:nvPr>
        </p:nvSpPr>
        <p:spPr bwMode="auto">
          <a:xfrm>
            <a:off x="682624" y="2080466"/>
            <a:ext cx="1066995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latin typeface="Times New Roman" panose="02020603050405020304" pitchFamily="18" charset="0"/>
                <a:cs typeface="Times New Roman" panose="02020603050405020304" pitchFamily="18" charset="0"/>
              </a:rPr>
              <a:t>D</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ata science and machine learning workflow</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cleaning and preprocessing using Python libraries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Exploratory Data Analysis (EDA)</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latin typeface="Times New Roman" panose="02020603050405020304" pitchFamily="18" charset="0"/>
                <a:cs typeface="Times New Roman" panose="02020603050405020304" pitchFamily="18" charset="0"/>
              </a:rPr>
              <a:t>D</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ata visualizations using graphs and charts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Building and training machine learning models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Applying feature scaling and feature engineering techniques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Evaluating models using accuracy, precision, recall, and confusion matrix</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Working with real-world datasets and problem statements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Using tools such as Python,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Jupyter</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Notebook, and ML libraries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Gaining analytical thinking and problem-solving skills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800" dirty="0">
                <a:latin typeface="Times New Roman" panose="02020603050405020304" pitchFamily="18" charset="0"/>
                <a:cs typeface="Times New Roman" panose="02020603050405020304" pitchFamily="18" charset="0"/>
              </a:rPr>
              <a:t>Building soft skills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Strengthening team collaboration and coordination skills by wo</a:t>
            </a:r>
            <a:r>
              <a:rPr lang="en-US" altLang="en-US" sz="1800" dirty="0">
                <a:latin typeface="Times New Roman" panose="02020603050405020304" pitchFamily="18" charset="0"/>
                <a:cs typeface="Times New Roman" panose="02020603050405020304" pitchFamily="18" charset="0"/>
              </a:rPr>
              <a:t>rking with a team.</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93542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F4D2-39FD-156E-C339-860B5657A4F0}"/>
              </a:ext>
            </a:extLst>
          </p:cNvPr>
          <p:cNvSpPr>
            <a:spLocks noGrp="1"/>
          </p:cNvSpPr>
          <p:nvPr>
            <p:ph type="title"/>
          </p:nvPr>
        </p:nvSpPr>
        <p:spPr>
          <a:xfrm>
            <a:off x="1819046" y="332656"/>
            <a:ext cx="8553907" cy="1354217"/>
          </a:xfrm>
        </p:spPr>
        <p:txBody>
          <a:bodyPr/>
          <a:lstStyle/>
          <a:p>
            <a:pPr algn="ctr"/>
            <a:r>
              <a:rPr lang="en-IN" spc="-10" dirty="0"/>
              <a:t>CONCLUSION</a:t>
            </a:r>
            <a:br>
              <a:rPr lang="en-IN" spc="-10" dirty="0"/>
            </a:br>
            <a:endParaRPr lang="en-IN" dirty="0"/>
          </a:p>
        </p:txBody>
      </p:sp>
      <p:sp>
        <p:nvSpPr>
          <p:cNvPr id="3" name="Text Placeholder 2">
            <a:extLst>
              <a:ext uri="{FF2B5EF4-FFF2-40B4-BE49-F238E27FC236}">
                <a16:creationId xmlns:a16="http://schemas.microsoft.com/office/drawing/2014/main" id="{8A984BA1-609C-DEEB-51A6-BD8598A486EF}"/>
              </a:ext>
            </a:extLst>
          </p:cNvPr>
          <p:cNvSpPr>
            <a:spLocks noGrp="1"/>
          </p:cNvSpPr>
          <p:nvPr>
            <p:ph type="body" idx="1"/>
          </p:nvPr>
        </p:nvSpPr>
        <p:spPr>
          <a:xfrm>
            <a:off x="682625" y="1562315"/>
            <a:ext cx="10811510" cy="3274230"/>
          </a:xfrm>
        </p:spPr>
        <p:txBody>
          <a:bodyPr/>
          <a:lstStyle/>
          <a:p>
            <a:pPr>
              <a:lnSpc>
                <a:spcPct val="150000"/>
              </a:lnSpc>
            </a:pPr>
            <a:r>
              <a:rPr lang="en-US" sz="1800" dirty="0"/>
              <a:t>The internship in </a:t>
            </a:r>
            <a:r>
              <a:rPr lang="en-US" sz="1800" b="1" dirty="0"/>
              <a:t>Data Science and Machine Learning</a:t>
            </a:r>
            <a:r>
              <a:rPr lang="en-US" sz="1800" dirty="0"/>
              <a:t> has been a valuable learning experience that is still in progress. It has provided practical exposure to working with real-world datasets and understanding how solutions are developed. Throughout this period, various stages of the data science process have been explored, including data collection, preprocessing, exploratory data analysis, model building, and evaluation. It has helped gain </a:t>
            </a:r>
            <a:r>
              <a:rPr lang="en-US" sz="1800" dirty="0" err="1"/>
              <a:t>valuble</a:t>
            </a:r>
            <a:r>
              <a:rPr lang="en-US" sz="1800" dirty="0"/>
              <a:t> experience in using concepts and learning about them. This is helping to strengthen technical knowledge, analytical thinking, and problem-solving skills along with team collaboration and coordination. As the internship continues, further learning and hands-on implementation are expected, which will contribute to a deeper understanding of data science concepts and their real-world applications.</a:t>
            </a:r>
            <a:endParaRPr lang="en-IN" sz="1800" dirty="0"/>
          </a:p>
        </p:txBody>
      </p:sp>
    </p:spTree>
    <p:extLst>
      <p:ext uri="{BB962C8B-B14F-4D97-AF65-F5344CB8AC3E}">
        <p14:creationId xmlns:p14="http://schemas.microsoft.com/office/powerpoint/2010/main" val="2944445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DBBB1-BB1E-BB6D-CDAE-4DC8817AC4E2}"/>
              </a:ext>
            </a:extLst>
          </p:cNvPr>
          <p:cNvSpPr>
            <a:spLocks noGrp="1"/>
          </p:cNvSpPr>
          <p:nvPr>
            <p:ph type="title"/>
          </p:nvPr>
        </p:nvSpPr>
        <p:spPr>
          <a:xfrm>
            <a:off x="1819046" y="260647"/>
            <a:ext cx="8553907" cy="677108"/>
          </a:xfrm>
        </p:spPr>
        <p:txBody>
          <a:bodyPr/>
          <a:lstStyle/>
          <a:p>
            <a:pPr algn="ctr"/>
            <a:r>
              <a:rPr lang="en-IN" dirty="0"/>
              <a:t>REFERENCES</a:t>
            </a:r>
          </a:p>
        </p:txBody>
      </p:sp>
      <p:sp>
        <p:nvSpPr>
          <p:cNvPr id="3" name="Text Placeholder 2">
            <a:extLst>
              <a:ext uri="{FF2B5EF4-FFF2-40B4-BE49-F238E27FC236}">
                <a16:creationId xmlns:a16="http://schemas.microsoft.com/office/drawing/2014/main" id="{5B179DAD-9068-FCC8-CA9C-5FEC3424B3B6}"/>
              </a:ext>
            </a:extLst>
          </p:cNvPr>
          <p:cNvSpPr>
            <a:spLocks noGrp="1"/>
          </p:cNvSpPr>
          <p:nvPr>
            <p:ph type="body" idx="1"/>
          </p:nvPr>
        </p:nvSpPr>
        <p:spPr>
          <a:xfrm>
            <a:off x="682625" y="1562315"/>
            <a:ext cx="10811510" cy="1723549"/>
          </a:xfrm>
        </p:spPr>
        <p:txBody>
          <a:bodyPr/>
          <a:lstStyle/>
          <a:p>
            <a:pPr marL="285750" indent="-285750">
              <a:buFont typeface="Arial" panose="020B0604020202020204" pitchFamily="34" charset="0"/>
              <a:buChar char="•"/>
            </a:pPr>
            <a:r>
              <a:rPr lang="en-IN" dirty="0"/>
              <a:t>https://pandas.pydata.org/</a:t>
            </a:r>
          </a:p>
          <a:p>
            <a:pPr marL="285750" indent="-285750">
              <a:buFont typeface="Arial" panose="020B0604020202020204" pitchFamily="34" charset="0"/>
              <a:buChar char="•"/>
            </a:pPr>
            <a:r>
              <a:rPr lang="en-IN" dirty="0"/>
              <a:t>https://matplotlib.org/</a:t>
            </a:r>
          </a:p>
          <a:p>
            <a:pPr marL="285750" indent="-285750">
              <a:buFont typeface="Arial" panose="020B0604020202020204" pitchFamily="34" charset="0"/>
              <a:buChar char="•"/>
            </a:pPr>
            <a:r>
              <a:rPr lang="en-IN" dirty="0"/>
              <a:t>https://scipy.org/</a:t>
            </a:r>
          </a:p>
          <a:p>
            <a:pPr marL="285750" indent="-285750">
              <a:buFont typeface="Arial" panose="020B0604020202020204" pitchFamily="34" charset="0"/>
              <a:buChar char="•"/>
            </a:pPr>
            <a:r>
              <a:rPr lang="en-IN" dirty="0"/>
              <a:t>https://numpy.org/</a:t>
            </a:r>
          </a:p>
          <a:p>
            <a:pPr marL="285750" indent="-285750">
              <a:buFont typeface="Arial" panose="020B0604020202020204" pitchFamily="34" charset="0"/>
              <a:buChar char="•"/>
            </a:pPr>
            <a:r>
              <a:rPr lang="en-IN" dirty="0"/>
              <a:t>https://www.kaggle.com/datasets</a:t>
            </a:r>
          </a:p>
          <a:p>
            <a:pPr marL="285750" indent="-285750">
              <a:buFont typeface="Arial" panose="020B0604020202020204" pitchFamily="34" charset="0"/>
              <a:buChar char="•"/>
            </a:pPr>
            <a:r>
              <a:rPr lang="en-IN" dirty="0"/>
              <a:t>https://www.geeksforgeeks.org/machine-learning/machine-learning/</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692308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575</TotalTime>
  <Words>1727</Words>
  <Application>Microsoft Office PowerPoint</Application>
  <PresentationFormat>Widescreen</PresentationFormat>
  <Paragraphs>163</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 </vt:lpstr>
      <vt:lpstr>CONTENTS</vt:lpstr>
      <vt:lpstr>ABSTRACT</vt:lpstr>
      <vt:lpstr>INTRODUCTION</vt:lpstr>
      <vt:lpstr>COMPANY OVERVIEW</vt:lpstr>
      <vt:lpstr>INTERNSHIP OBJECTIVES </vt:lpstr>
      <vt:lpstr>INTERNSHIP OBJECTIVES </vt:lpstr>
      <vt:lpstr>INTERNSHIP PLAN / SCHEDULE</vt:lpstr>
      <vt:lpstr>PowerPoint Presentation</vt:lpstr>
      <vt:lpstr>INTERNSHIP PLAN / SCHEDULE</vt:lpstr>
      <vt:lpstr>INTERNSHIP PLAN / SCHEDULE</vt:lpstr>
      <vt:lpstr>INTERNSHIP PLAN / SCHEDULE</vt:lpstr>
      <vt:lpstr>TECHNOLOGIES / TOOLS USED</vt:lpstr>
      <vt:lpstr>SKILLS GAINED</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CSE(AI&amp;ML) Academic year: 2025-26</dc:title>
  <dc:creator>Harsh Verma</dc:creator>
  <cp:lastModifiedBy>Sowjanya Ranjan</cp:lastModifiedBy>
  <cp:revision>30</cp:revision>
  <dcterms:created xsi:type="dcterms:W3CDTF">2025-08-22T18:55:00Z</dcterms:created>
  <dcterms:modified xsi:type="dcterms:W3CDTF">2026-03-11T05:40:11Z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2025-08-23T05:30:00Z</vt:filetime>
  </property>
  <property fmtid="{D5CDD505-2E9C-101B-9397-08002B2CF9AE}" pid="3" name="Creator">
    <vt:lpwstr>Google</vt:lpwstr>
  </property>
  <property fmtid="{D5CDD505-2E9C-101B-9397-08002B2CF9AE}" pid="4" name="LastSaved">
    <vt:filetime>2025-08-23T05:30:00Z</vt:filetime>
  </property>
  <property fmtid="{D5CDD505-2E9C-101B-9397-08002B2CF9AE}" pid="5" name="ICV">
    <vt:lpwstr>84b39e3a79c6477d8b653077e94f3208</vt:lpwstr>
  </property>
  <property fmtid="{D5CDD505-2E9C-101B-9397-08002B2CF9AE}" pid="6" name="KSOProductBuildVer">
    <vt:lpwstr>2057-12.2.0.21936</vt:lpwstr>
  </property>
</Properties>
</file>