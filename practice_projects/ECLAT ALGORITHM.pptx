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57" r:id="rId4"/>
    <p:sldId id="262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C6CAE-76A6-45BE-B21E-6A1EC72BCF6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C558C32-2648-4B8B-AE73-B3872B006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831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C6CAE-76A6-45BE-B21E-6A1EC72BCF6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58C32-2648-4B8B-AE73-B3872B006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248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C6CAE-76A6-45BE-B21E-6A1EC72BCF6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C558C32-2648-4B8B-AE73-B3872B006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6203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C6CAE-76A6-45BE-B21E-6A1EC72BCF6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C558C32-2648-4B8B-AE73-B3872B006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8718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C6CAE-76A6-45BE-B21E-6A1EC72BCF6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C558C32-2648-4B8B-AE73-B3872B006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335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C6CAE-76A6-45BE-B21E-6A1EC72BCF6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58C32-2648-4B8B-AE73-B3872B006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066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C6CAE-76A6-45BE-B21E-6A1EC72BCF6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58C32-2648-4B8B-AE73-B3872B006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85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C6CAE-76A6-45BE-B21E-6A1EC72BCF6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58C32-2648-4B8B-AE73-B3872B006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177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C6CAE-76A6-45BE-B21E-6A1EC72BCF6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C558C32-2648-4B8B-AE73-B3872B006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448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C6CAE-76A6-45BE-B21E-6A1EC72BCF6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C558C32-2648-4B8B-AE73-B3872B006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924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C6CAE-76A6-45BE-B21E-6A1EC72BCF6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C558C32-2648-4B8B-AE73-B3872B0068D7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367074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C6CAE-76A6-45BE-B21E-6A1EC72BCF6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C558C32-2648-4B8B-AE73-B3872B006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261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C6CAE-76A6-45BE-B21E-6A1EC72BCF6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C558C32-2648-4B8B-AE73-B3872B0068D7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837321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C6CAE-76A6-45BE-B21E-6A1EC72BCF6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C558C32-2648-4B8B-AE73-B3872B006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0699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C6CAE-76A6-45BE-B21E-6A1EC72BCF6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58C32-2648-4B8B-AE73-B3872B006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4250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C6CAE-76A6-45BE-B21E-6A1EC72BCF6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58C32-2648-4B8B-AE73-B3872B006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8062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C6CAE-76A6-45BE-B21E-6A1EC72BCF6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C558C32-2648-4B8B-AE73-B3872B006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1920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A406A-7A19-F0B1-4B5E-2CBF3AE69D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ECLAT ALGORITHM</a:t>
            </a:r>
          </a:p>
        </p:txBody>
      </p:sp>
    </p:spTree>
    <p:extLst>
      <p:ext uri="{BB962C8B-B14F-4D97-AF65-F5344CB8AC3E}">
        <p14:creationId xmlns:p14="http://schemas.microsoft.com/office/powerpoint/2010/main" val="908791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1E0B023-10F4-CF04-071D-27D2F67BA0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792552"/>
              </p:ext>
            </p:extLst>
          </p:nvPr>
        </p:nvGraphicFramePr>
        <p:xfrm>
          <a:off x="860322" y="795925"/>
          <a:ext cx="10471356" cy="5794229"/>
        </p:xfrm>
        <a:graphic>
          <a:graphicData uri="http://schemas.openxmlformats.org/drawingml/2006/table">
            <a:tbl>
              <a:tblPr/>
              <a:tblGrid>
                <a:gridCol w="5235678">
                  <a:extLst>
                    <a:ext uri="{9D8B030D-6E8A-4147-A177-3AD203B41FA5}">
                      <a16:colId xmlns:a16="http://schemas.microsoft.com/office/drawing/2014/main" val="2153760144"/>
                    </a:ext>
                  </a:extLst>
                </a:gridCol>
                <a:gridCol w="5235678">
                  <a:extLst>
                    <a:ext uri="{9D8B030D-6E8A-4147-A177-3AD203B41FA5}">
                      <a16:colId xmlns:a16="http://schemas.microsoft.com/office/drawing/2014/main" val="964296839"/>
                    </a:ext>
                  </a:extLst>
                </a:gridCol>
              </a:tblGrid>
              <a:tr h="230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Term</a:t>
                      </a:r>
                    </a:p>
                  </a:txBody>
                  <a:tcPr marL="38507" marR="38507" marT="19254" marB="192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Definition</a:t>
                      </a:r>
                    </a:p>
                  </a:txBody>
                  <a:tcPr marL="38507" marR="38507" marT="19254" marB="192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8993292"/>
                  </a:ext>
                </a:extLst>
              </a:tr>
              <a:tr h="697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 err="1"/>
                        <a:t>Apriori</a:t>
                      </a:r>
                      <a:r>
                        <a:rPr lang="en-IN" sz="1200" b="1" dirty="0"/>
                        <a:t> Algorithm</a:t>
                      </a:r>
                    </a:p>
                  </a:txBody>
                  <a:tcPr marL="38507" marR="38507" marT="19254" marB="192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Apriori is an association rule mining algorithm used to find frequent itemsets in a transactional dataset and generate association rules based on minimum support and confidence thresholds.</a:t>
                      </a:r>
                    </a:p>
                  </a:txBody>
                  <a:tcPr marL="38507" marR="38507" marT="19254" marB="192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3566959"/>
                  </a:ext>
                </a:extLst>
              </a:tr>
              <a:tr h="6218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Association Rule</a:t>
                      </a:r>
                    </a:p>
                  </a:txBody>
                  <a:tcPr marL="38507" marR="38507" marT="19254" marB="192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An association rule is a relationship between items in a dataset that shows how the presence of one item affects the presence of another item. It is usually written as X → Y.</a:t>
                      </a:r>
                    </a:p>
                  </a:txBody>
                  <a:tcPr marL="38507" marR="38507" marT="19254" marB="192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7287417"/>
                  </a:ext>
                </a:extLst>
              </a:tr>
              <a:tr h="4372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Itemset</a:t>
                      </a:r>
                    </a:p>
                  </a:txBody>
                  <a:tcPr marL="38507" marR="38507" marT="19254" marB="192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An itemset is a group of one or more items that appear together in a transaction. Example: </a:t>
                      </a:r>
                      <a:r>
                        <a:rPr lang="en-US" sz="1200" b="1">
                          <a:latin typeface="Courier New" panose="02070309020205020404" pitchFamily="49" charset="0"/>
                        </a:rPr>
                        <a:t>{Milk, Bread}</a:t>
                      </a:r>
                      <a:endParaRPr lang="en-US" sz="1200" b="1"/>
                    </a:p>
                  </a:txBody>
                  <a:tcPr marL="38507" marR="38507" marT="19254" marB="192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8194994"/>
                  </a:ext>
                </a:extLst>
              </a:tr>
              <a:tr h="530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Frequent Itemset</a:t>
                      </a:r>
                    </a:p>
                  </a:txBody>
                  <a:tcPr marL="38507" marR="38507" marT="19254" marB="192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A frequent itemset is a group of items that appear together in transactions more often than a specified minimum support threshold.</a:t>
                      </a:r>
                    </a:p>
                  </a:txBody>
                  <a:tcPr marL="38507" marR="38507" marT="19254" marB="192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2377669"/>
                  </a:ext>
                </a:extLst>
              </a:tr>
              <a:tr h="530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Support</a:t>
                      </a:r>
                    </a:p>
                  </a:txBody>
                  <a:tcPr marL="38507" marR="38507" marT="19254" marB="192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Support measures how frequently an itemset appears in the dataset. It is the proportion of transactions that contain the itemset.</a:t>
                      </a:r>
                    </a:p>
                  </a:txBody>
                  <a:tcPr marL="38507" marR="38507" marT="19254" marB="192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2094917"/>
                  </a:ext>
                </a:extLst>
              </a:tr>
              <a:tr h="530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Confidence</a:t>
                      </a:r>
                    </a:p>
                  </a:txBody>
                  <a:tcPr marL="38507" marR="38507" marT="19254" marB="192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Confidence measures the reliability of an association rule. It shows how often item Y appears in transactions that contain item X.</a:t>
                      </a:r>
                    </a:p>
                  </a:txBody>
                  <a:tcPr marL="38507" marR="38507" marT="19254" marB="192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3950419"/>
                  </a:ext>
                </a:extLst>
              </a:tr>
              <a:tr h="6218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Lift</a:t>
                      </a:r>
                    </a:p>
                  </a:txBody>
                  <a:tcPr marL="38507" marR="38507" marT="19254" marB="192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Lift measures the strength of an association rule by comparing the observed co-occurrence of items with their expected co-occurrence if they were independent.</a:t>
                      </a:r>
                    </a:p>
                  </a:txBody>
                  <a:tcPr marL="38507" marR="38507" marT="19254" marB="192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7402659"/>
                  </a:ext>
                </a:extLst>
              </a:tr>
              <a:tr h="530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Antecedent</a:t>
                      </a:r>
                    </a:p>
                  </a:txBody>
                  <a:tcPr marL="38507" marR="38507" marT="19254" marB="192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The antecedent is the left-hand side of an association rule (the condition part). Example: In </a:t>
                      </a:r>
                      <a:r>
                        <a:rPr lang="en-US" sz="1200" b="1">
                          <a:latin typeface="Courier New" panose="02070309020205020404" pitchFamily="49" charset="0"/>
                        </a:rPr>
                        <a:t>Milk → Bread</a:t>
                      </a:r>
                      <a:r>
                        <a:rPr lang="en-US" sz="1200" b="1"/>
                        <a:t>, Milk is the antecedent.</a:t>
                      </a:r>
                    </a:p>
                  </a:txBody>
                  <a:tcPr marL="38507" marR="38507" marT="19254" marB="192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890871"/>
                  </a:ext>
                </a:extLst>
              </a:tr>
              <a:tr h="530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Consequent</a:t>
                      </a:r>
                    </a:p>
                  </a:txBody>
                  <a:tcPr marL="38507" marR="38507" marT="19254" marB="192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The consequent is the right-hand side of an association rule (the result part). Example: In </a:t>
                      </a:r>
                      <a:r>
                        <a:rPr lang="en-US" sz="1200" b="1">
                          <a:latin typeface="Courier New" panose="02070309020205020404" pitchFamily="49" charset="0"/>
                        </a:rPr>
                        <a:t>Milk → Bread</a:t>
                      </a:r>
                      <a:r>
                        <a:rPr lang="en-US" sz="1200" b="1"/>
                        <a:t>, Bread is the consequent.</a:t>
                      </a:r>
                    </a:p>
                  </a:txBody>
                  <a:tcPr marL="38507" marR="38507" marT="19254" marB="192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063109"/>
                  </a:ext>
                </a:extLst>
              </a:tr>
              <a:tr h="530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Transaction</a:t>
                      </a:r>
                    </a:p>
                  </a:txBody>
                  <a:tcPr marL="38507" marR="38507" marT="19254" marB="192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A transaction is a record containing a set of items purchased or occurring together. Example: </a:t>
                      </a:r>
                      <a:r>
                        <a:rPr lang="en-US" sz="1200" b="1" dirty="0">
                          <a:latin typeface="Courier New" panose="02070309020205020404" pitchFamily="49" charset="0"/>
                        </a:rPr>
                        <a:t>{Milk, Bread, Butter}</a:t>
                      </a:r>
                      <a:endParaRPr lang="en-US" sz="1200" b="1" dirty="0"/>
                    </a:p>
                  </a:txBody>
                  <a:tcPr marL="38507" marR="38507" marT="19254" marB="192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72148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3F17E17-B7C7-59CD-5F2A-10D27ED1C665}"/>
              </a:ext>
            </a:extLst>
          </p:cNvPr>
          <p:cNvSpPr txBox="1"/>
          <p:nvPr/>
        </p:nvSpPr>
        <p:spPr>
          <a:xfrm>
            <a:off x="1877961" y="216310"/>
            <a:ext cx="7511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DEFINITIONS</a:t>
            </a:r>
          </a:p>
        </p:txBody>
      </p:sp>
    </p:spTree>
    <p:extLst>
      <p:ext uri="{BB962C8B-B14F-4D97-AF65-F5344CB8AC3E}">
        <p14:creationId xmlns:p14="http://schemas.microsoft.com/office/powerpoint/2010/main" val="3750747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0A30B-7425-89B7-6FDA-7F1B3E18A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ECLAT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5AF60-9742-8698-6D4D-C173FC5C0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ECLAT (Equivalence Class Clustering and bottom-up Lattice Traversal)</a:t>
            </a:r>
            <a:r>
              <a:rPr lang="en-US" dirty="0"/>
              <a:t> is an algorithm used to find </a:t>
            </a:r>
            <a:r>
              <a:rPr lang="en-US" b="1" dirty="0"/>
              <a:t>frequent </a:t>
            </a:r>
            <a:r>
              <a:rPr lang="en-US" b="1" dirty="0" err="1"/>
              <a:t>itemsets</a:t>
            </a:r>
            <a:r>
              <a:rPr lang="en-US" b="1" dirty="0"/>
              <a:t> in transactional datasets</a:t>
            </a:r>
            <a:r>
              <a:rPr lang="en-US" dirty="0"/>
              <a:t>.</a:t>
            </a:r>
          </a:p>
          <a:p>
            <a:r>
              <a:rPr lang="en-US" dirty="0"/>
              <a:t>Principle: ECLAT works using a </a:t>
            </a:r>
            <a:r>
              <a:rPr lang="en-US" b="1" dirty="0"/>
              <a:t>vertical data format</a:t>
            </a:r>
            <a:r>
              <a:rPr lang="en-US" dirty="0"/>
              <a:t>.</a:t>
            </a:r>
          </a:p>
          <a:p>
            <a:r>
              <a:rPr lang="en-US" dirty="0"/>
              <a:t>Interchange of transaction ID and items.</a:t>
            </a:r>
          </a:p>
          <a:p>
            <a:r>
              <a:rPr lang="en-US" dirty="0"/>
              <a:t>Eclat uses a </a:t>
            </a:r>
            <a:r>
              <a:rPr lang="en-US" b="1" dirty="0"/>
              <a:t>Depth-First Search (DFS)</a:t>
            </a:r>
            <a:r>
              <a:rPr lang="en-US" dirty="0"/>
              <a:t> to explore item combination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6684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31EDCC-9509-6DEA-0922-AE0F70A00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322" y="1619897"/>
            <a:ext cx="4931706" cy="36182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DE49AE-760C-1DE6-FBC1-1097FB50BD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290" y="1778160"/>
            <a:ext cx="4279683" cy="33016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AD6BFF-6E2A-D3AC-28EB-51C3F78F6DBA}"/>
              </a:ext>
            </a:extLst>
          </p:cNvPr>
          <p:cNvSpPr txBox="1"/>
          <p:nvPr/>
        </p:nvSpPr>
        <p:spPr>
          <a:xfrm>
            <a:off x="1835576" y="953729"/>
            <a:ext cx="20451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APRIORI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BEFBAB-C26C-239C-0CBC-5E7C06743704}"/>
              </a:ext>
            </a:extLst>
          </p:cNvPr>
          <p:cNvSpPr txBox="1"/>
          <p:nvPr/>
        </p:nvSpPr>
        <p:spPr>
          <a:xfrm>
            <a:off x="7637620" y="870155"/>
            <a:ext cx="20451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ECLAT</a:t>
            </a:r>
          </a:p>
        </p:txBody>
      </p:sp>
    </p:spTree>
    <p:extLst>
      <p:ext uri="{BB962C8B-B14F-4D97-AF65-F5344CB8AC3E}">
        <p14:creationId xmlns:p14="http://schemas.microsoft.com/office/powerpoint/2010/main" val="525621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136C0-DB2C-2026-0366-A05CCE662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Steps of ECLAT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8349C-3931-FE64-FE90-897031095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Load transactional dataset</a:t>
            </a:r>
          </a:p>
          <a:p>
            <a:r>
              <a:rPr lang="en-IN" dirty="0"/>
              <a:t>Convert dataset into </a:t>
            </a:r>
            <a:r>
              <a:rPr lang="en-IN" b="1" dirty="0"/>
              <a:t>vertical format (item → transaction IDs)</a:t>
            </a:r>
            <a:endParaRPr lang="en-IN" dirty="0"/>
          </a:p>
          <a:p>
            <a:r>
              <a:rPr lang="en-IN" dirty="0"/>
              <a:t>Apply </a:t>
            </a:r>
            <a:r>
              <a:rPr lang="en-IN" b="1" dirty="0"/>
              <a:t>minimum support threshold</a:t>
            </a:r>
            <a:endParaRPr lang="en-IN" dirty="0"/>
          </a:p>
          <a:p>
            <a:r>
              <a:rPr lang="en-IN" dirty="0"/>
              <a:t>Generate item combinations</a:t>
            </a:r>
          </a:p>
          <a:p>
            <a:r>
              <a:rPr lang="en-IN" dirty="0"/>
              <a:t>Use </a:t>
            </a:r>
            <a:r>
              <a:rPr lang="en-IN" b="1" dirty="0"/>
              <a:t>set intersection</a:t>
            </a:r>
            <a:r>
              <a:rPr lang="en-IN" dirty="0"/>
              <a:t> to find common transactions</a:t>
            </a:r>
          </a:p>
          <a:p>
            <a:r>
              <a:rPr lang="en-IN" dirty="0"/>
              <a:t>Calculate </a:t>
            </a:r>
            <a:r>
              <a:rPr lang="en-IN" b="1" dirty="0"/>
              <a:t>support of </a:t>
            </a:r>
            <a:r>
              <a:rPr lang="en-IN" b="1" dirty="0" err="1"/>
              <a:t>itemsets</a:t>
            </a:r>
            <a:endParaRPr lang="en-IN" dirty="0"/>
          </a:p>
          <a:p>
            <a:r>
              <a:rPr lang="en-IN" dirty="0"/>
              <a:t>Output </a:t>
            </a:r>
            <a:r>
              <a:rPr lang="en-IN" b="1" dirty="0"/>
              <a:t>frequent </a:t>
            </a:r>
            <a:r>
              <a:rPr lang="en-IN" b="1" dirty="0" err="1"/>
              <a:t>itemsets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7748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D6E1F-F607-1853-79FC-72BB821AC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 steps followed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2C79ECB-BB6E-35F5-3800-6203AD8543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6187" y="1750024"/>
            <a:ext cx="10311581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 dataset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 dataset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 format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pyECLAT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library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minimum support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frequent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itemsets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results in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DataFrame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44877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26</TotalTime>
  <Words>394</Words>
  <Application>Microsoft Office PowerPoint</Application>
  <PresentationFormat>Widescreen</PresentationFormat>
  <Paragraphs>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Century Gothic</vt:lpstr>
      <vt:lpstr>Courier New</vt:lpstr>
      <vt:lpstr>Times New Roman</vt:lpstr>
      <vt:lpstr>Wingdings 3</vt:lpstr>
      <vt:lpstr>Wisp</vt:lpstr>
      <vt:lpstr>ECLAT ALGORITHM</vt:lpstr>
      <vt:lpstr>PowerPoint Presentation</vt:lpstr>
      <vt:lpstr>ECLAT algorithm</vt:lpstr>
      <vt:lpstr>PowerPoint Presentation</vt:lpstr>
      <vt:lpstr>Steps of ECLAT Algorithm</vt:lpstr>
      <vt:lpstr>Implementation steps followed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Sowjanya Ranjan</dc:creator>
  <cp:lastModifiedBy>Sowjanya Ranjan</cp:lastModifiedBy>
  <cp:revision>2</cp:revision>
  <dcterms:created xsi:type="dcterms:W3CDTF">2026-03-13T11:50:18Z</dcterms:created>
  <dcterms:modified xsi:type="dcterms:W3CDTF">2026-03-13T14:34:16Z</dcterms:modified>
</cp:coreProperties>
</file>